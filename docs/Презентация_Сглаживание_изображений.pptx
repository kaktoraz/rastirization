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Я покажу учебный проект по шумоподавлению изображений — адаптивный контрастно-структурный фильтр, или АКСФ. Это не заявление о новом мировом классе алгоритмов, а прозрачное развитие билатеральной фильтрации. Важная часть работы — не только метод, но и честный воспроизводимый эксперимент: шесть сцен, шесть уровней шума, цветной режим и отдельная статистическая проверка.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примере видны два противоречивых требования. Нужно подавить гауссову зернистость, но не потерять контуры и текстуру. Простое усреднение одинаково относится к гладкой области и к границе, поэтому неизбежно размывает детали. Кроме того, на реальном кадре заранее неизвестен уровень шума. Это мотивирует локально адаптивное правило вместо одного глобального параметра.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состоит из трёх логичных шагов. Сначала оценка шума по самому изображению. Затем в небольшом окне измеряется дисперсия, но из неё вычитается дисперсия шума — поэтому карта активности показывает преимущественно полезную структуру. Наконец, эта карта непрерывно управляет диапазонным параметром билатерального фильтра. В гладком месте фильтр смелее, а на детали — осторожнее.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Параметры не менялись ради удобства оптимизации. Была проведена отдельная калибровка только на уровнях 20 и 30; остальные уровни не использовались при выборе. Затем основную стоимость сняли тремя инженерными шагами: интегральная дисперсия, таблица экспоненты и сепарабельный проход. При этом точная 2D-версия оставлена внутри тестов, а публичный быстрый путь ограничен регрессионным порогом потери качества 0,05 децибела.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важна честность сравнения. Для каждой комбинации изображения и уровня шума создаётся один шумный кадр с явным seed, и все методы получают именно его. В основном протоколе шесть сцен умножаются на шесть уровней, то есть каждый метод оценивается на 36 задачах. Перона—Малик реализован самостоятельно как дополнительный конкурент. Оракул не является применимым алгоритмом: он видит эталон только для демонстрации потолка семейства bilateral.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результат — средний PSNR АКСФ 30,35 децибела. Это на 3,10 децибела выше универсального bilateral. Важно не завышать вывод: оракул выше на 0,31 децибела, но он использует чистый эталон для подбора параметров. В числе честных применимых конкурентов также есть Перона—Малик; он сильнее Gaussian и bilateral, но АКСФ сохраняет преимущество по PSNR и занимает меньше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не объяснять успех случайно удачным средним параметром, включён flat-контроль. В нём та же оценка шума и тот же фильтр, но kmin и kmax сведены к одному среднему значению. Полный АКСФ выигрывает у него по PSNR. Это экспериментальная поддержка именно локального правила, а не просто выбора одной удачной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важны, но для шумоподавления необходима визуальная проверка. На фрагменте бабуина видны одновременно гладкие области, контур и мелкая текстура. Gaussian снижает зернистость, но сглаживает мех. Bilateral сохраняет больше границ, но при универсальной настройке оставляет шум. АКСФ использует карту активности и пытается сохранить текстуру, не обрабатывая её как шум.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детерминированный запуск может быть удачным или неудачным для конкретного шума. Поэтому сравнение bilateral и АКСФ повторено на 30 независимых seed. Чтобы не делать вид, будто отдельные пиксели — независимые наблюдения, каждое наблюдение — это средний результат всех 36 задач одного seed. Поскольку входы общие, t-тест парный. Полученная p-величина значительно меньше 0,05, поэтому в этом протоколе наблюдаемый выигрыш не объясняется случайной сменой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Цветная часть реализована отдельно. Сначала RGB переводится в YCbCr. Оценка шума и карта активности строятся по яркости Y, что соответствует визуальной роли контура. Но затем Y, Cb и Cr фильтруются совместным весом, поэтому это не три независимые серые обработки. На трёх цветных сценах АКСФ также выигрывает у реализованного bilateral по всем сводным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Подведу итог. В проекте есть не только алгоритм, но и полный путь проверки: быстрый публичный вариант, точная контрольная версия, контроль адаптации, сильный реализованный конкурент, цветной режим и парная статистика. Результаты говорят в пользу АКСФ именно в заданной модели гауссова шума. Честные ограничения также важны: нельзя переносить этот вывод без новых опытов на импульсный шум или реальные снимки.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700" b="1">
                <a:solidFill>
                  <a:srgbClr val="FFFFFF"/>
                </a:solidFill>
                <a:latin typeface="Calibri"/>
              </a:defRPr>
            </a:pPr>
            <a:r>
              <a:t>Адаптивный</a:t>
            </a:r>
            <a:br/>
            <a:r>
              <a:t>контрастно-структурный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E66A6B"/>
                </a:solidFill>
                <a:latin typeface="Calibri"/>
              </a:defRPr>
            </a:pPr>
            <a:r>
              <a:t>АКСФ: воспроизводимое исследование шумоподавления на 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69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CFD9E8"/>
                </a:solidFill>
                <a:latin typeface="Calibri"/>
              </a:defRPr>
            </a:pPr>
            <a:r>
              <a:t>6 полутоновых сцен · 6 уровней шума · цветный YCbCr-режим</a:t>
            </a:r>
            <a:br/>
            <a:r>
              <a:t>30 парных независимых прогонов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978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CFD9E8"/>
                </a:solidFill>
                <a:latin typeface="Calibri"/>
              </a:defRPr>
            </a:pPr>
            <a:r>
              <a:t>Учебный проект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Проблема: шум и потеря деталей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сглаживание не должно превращать текстуру в размытие</a:t>
            </a:r>
          </a:p>
        </p:txBody>
      </p:sp>
      <p:pic>
        <p:nvPicPr>
          <p:cNvPr id="3" name="Picture 2" descr="fig_visual_fru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406640" cy="1473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371600"/>
            <a:ext cx="3703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Гауссов шум ухудшает видимость структуры.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Обычное среднее уменьшает шум, но размывает границы.</a:t>
            </a:r>
          </a:p>
          <a:p>
            <a:pPr>
              <a:spcAft>
                <a:spcPts val="900"/>
              </a:spcAft>
              <a:defRPr sz="1600" b="1">
                <a:solidFill>
                  <a:srgbClr val="D62728"/>
                </a:solidFill>
                <a:latin typeface="Calibri"/>
              </a:defRPr>
            </a:pPr>
            <a:r>
              <a:t>• Нужна сила сглаживания, зависящая от локального содержимого.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На практике σ шума обычно неизвестна.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АКСФ: локальная адаптация σr(p)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сначала шум, затем структура, затем билинейное взвешивание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1F2D5C"/>
                </a:solidFill>
                <a:latin typeface="Calibri"/>
              </a:defRPr>
            </a:pPr>
            <a:r>
              <a:t>A(p) = √max(0, V(p) − σ̂²)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300" b="1">
                <a:solidFill>
                  <a:srgbClr val="D62728"/>
                </a:solidFill>
                <a:latin typeface="Calibri"/>
              </a:defRPr>
            </a:pPr>
            <a:r>
              <a:t>σr(p) = σ̂[kmin + (kmax − kmin) exp(−(A(p)/(cσ̂))²)]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σ̂: автоматическая оценка Иммеркера.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V(p): несмещённая дисперсия в окне 5×5.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A(p): структура после вычитания дисперсии шума.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971800"/>
            <a:ext cx="49377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Гладко → σr ближе к kmax·σ̂ → сильное сглаживание.</a:t>
            </a:r>
          </a:p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Контур/текстура → σr ближе к kmin·σ̂ → осторожное сглаживание.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Пространственный вес — гауссов, окно 11×11.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Калибровка и ускоренная реализация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выбор параметров отделён от итогового теста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1556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900" b="1">
                <a:solidFill>
                  <a:srgbClr val="D62728"/>
                </a:solidFill>
                <a:latin typeface="Calibri"/>
              </a:defRPr>
            </a:pPr>
            <a:r>
              <a:t>Выбрано на σ=20,30: 2.0,0.85,3.6,1.3,5,2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444444"/>
                </a:solidFill>
                <a:latin typeface="Calibri"/>
              </a:defRPr>
            </a:pPr>
            <a:r>
              <a:t>• Интегральные изображения для карты дисперсии.</a:t>
            </a:r>
          </a:p>
          <a:p>
            <a:pPr>
              <a:spcAft>
                <a:spcPts val="900"/>
              </a:spcAft>
              <a:defRPr sz="1700" b="0">
                <a:solidFill>
                  <a:srgbClr val="444444"/>
                </a:solidFill>
                <a:latin typeface="Calibri"/>
              </a:defRPr>
            </a:pPr>
            <a:r>
              <a:t>• LUT с линейной интерполяцией для exp(−x).</a:t>
            </a:r>
          </a:p>
          <a:p>
            <a:pPr>
              <a:spcAft>
                <a:spcPts val="900"/>
              </a:spcAft>
              <a:defRPr sz="1700" b="0">
                <a:solidFill>
                  <a:srgbClr val="444444"/>
                </a:solidFill>
                <a:latin typeface="Calibri"/>
              </a:defRPr>
            </a:pPr>
            <a:r>
              <a:t>• Два сепарабельных пространственных прохода вместо прямого 2D-ядра.</a:t>
            </a:r>
          </a:p>
          <a:p>
            <a:pPr>
              <a:spcAft>
                <a:spcPts val="900"/>
              </a:spcAft>
              <a:defRPr sz="1700" b="1">
                <a:solidFill>
                  <a:srgbClr val="D62728"/>
                </a:solidFill>
                <a:latin typeface="Calibri"/>
              </a:defRPr>
            </a:pPr>
            <a:r>
              <a:t>• На 4 реальных 512×512 сценах: 19,38 мс &lt; 30 мс.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29400" y="1965960"/>
          <a:ext cx="48463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423160"/>
              </a:tblGrid>
              <a:tr h="4800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Путь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Время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Исходный 2D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241,9 мс</a:t>
                      </a:r>
                    </a:p>
                  </a:txBody>
                  <a:tcPr marL="36576" marR="36576" marT="13716" marB="13716"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Точный ускоренный 2D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70,9 мс</a:t>
                      </a:r>
                    </a:p>
                  </a:txBody>
                  <a:tcPr marL="36576" marR="36576" marT="13716" marB="13716"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Сепарабельный public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20,47 мс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29400" y="4251960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444444"/>
                </a:solidFill>
                <a:latin typeface="Calibri"/>
              </a:defRPr>
            </a:pPr>
            <a:r>
              <a:t>Регрессионный тест: public ACSF не может потерять более 0,05 дБ относительно сохранённой точной 2D-версии при общей σ̂.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Честный протокол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один генератор, один шумный вход и один seed для сравниваемых методов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F2D5C"/>
                </a:solidFill>
                <a:latin typeface="Calibri"/>
              </a:defRPr>
            </a:pPr>
            <a:r>
              <a:t>• 6 сцен: astronaut, baboon, board, fruits, grace_hopper, gradient_circles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σ = 5, 10, 15, 20, 30, 40; всего 36 задач на метод.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raw, flat-контроль, box, Gaussian, median, bilateral, Perona–Malik, ACSF.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«Оракул» bilateral — только диагностическая верхняя граница.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PSNR, SSIM, EPI и время; CSV и логи сохраняются workflow-ом.</a:t>
            </a:r>
          </a:p>
        </p:txBody>
      </p:sp>
      <p:pic>
        <p:nvPicPr>
          <p:cNvPr id="4" name="Picture 3" descr="fig_activ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303520" cy="210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Основные результаты: полутоновый режим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среднее по 6 сценам × 6 уровням шума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124712"/>
                <a:gridCol w="1124712"/>
                <a:gridCol w="1124712"/>
                <a:gridCol w="1124712"/>
              </a:tblGrid>
              <a:tr h="463731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Метод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PSNR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SSIM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EPI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мс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Гауссов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26,19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0,6584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0,3272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3,5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Перона—Малик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29,25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0,7633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0,5399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55,0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Билатеральный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27,25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0,5980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0,4958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64,6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Билатеральный («оракул»)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30,66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0,7989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0,6018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АКСФ без адаптации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29,60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0,7680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0,6005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18,8</a:t>
                      </a:r>
                    </a:p>
                  </a:txBody>
                  <a:tcPr marL="36576" marR="36576" marT="13716" marB="13716"/>
                </a:tc>
              </a:tr>
              <a:tr h="46373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АКСФ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30,35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0,7978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0,6340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19,9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fig_psnr_vs_sig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16152"/>
            <a:ext cx="5440680" cy="32806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800600"/>
            <a:ext cx="109728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D62728"/>
                </a:solidFill>
                <a:latin typeface="Calibri"/>
              </a:defRPr>
            </a:pPr>
            <a:r>
              <a:t>АКСФ: +3,10 дБ к универсальному bilateral; до «оракула» 0,31 дБ.  Средний PSNR = 30,35 дБ.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Что даёт именно адаптация?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контрольный ACSF-flat отличается только отсутствием локальной карты</a:t>
            </a:r>
          </a:p>
        </p:txBody>
      </p:sp>
      <p:pic>
        <p:nvPicPr>
          <p:cNvPr id="3" name="Picture 2" descr="fig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7406640" cy="23316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41732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D62728"/>
                </a:solidFill>
                <a:latin typeface="Calibri"/>
              </a:defRPr>
            </a:pPr>
            <a:r>
              <a:t>• ACSF − flat = +0,75 дБ PSNR</a:t>
            </a:r>
          </a:p>
          <a:p>
            <a:pPr>
              <a:spcAft>
                <a:spcPts val="900"/>
              </a:spcAft>
              <a:defRPr sz="1600" b="1">
                <a:solidFill>
                  <a:srgbClr val="D62728"/>
                </a:solidFill>
                <a:latin typeface="Calibri"/>
              </a:defRPr>
            </a:pPr>
            <a:r>
              <a:t>• ACSF − Perona–Malik = +1,10 дБ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Рост SSIM и EPI подтверждает, что выигрыш не сводится к размытию.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Карта A(p) отделяет полезную структуру от шума.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Визуальная проверка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фрагмент «baboon», σ=20; подписи PSNR считываются из CSV</a:t>
            </a:r>
          </a:p>
        </p:txBody>
      </p:sp>
      <p:pic>
        <p:nvPicPr>
          <p:cNvPr id="3" name="Picture 2" descr="fig_visual_bab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23110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49240"/>
            <a:ext cx="10744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444444"/>
                </a:solidFill>
                <a:latin typeface="Calibri"/>
              </a:defRPr>
            </a:pPr>
            <a:r>
              <a:t>Визуальный вывод согласуется с метриками: в гладких зонах шум ослаблен, а текстура и контур сохранены лучше, чем при глобальном сглаживании.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Статистическая проверка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30 парных независимых seed-прогонов: ACSF &gt; bilateral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49377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Показатель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Значение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Независимых пар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marL="36576" marR="36576" marT="13716" marB="13716"/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Δ PSNR, дБ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+3,099</a:t>
                      </a:r>
                    </a:p>
                  </a:txBody>
                  <a:tcPr marL="36576" marR="36576" marT="13716" marB="13716"/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t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3775.9</a:t>
                      </a:r>
                    </a:p>
                  </a:txBody>
                  <a:tcPr marL="36576" marR="36576" marT="13716" marB="13716"/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p, односторонний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2.17e-84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4630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Единица наблюдения — среднее по 36 задачам одного seed.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Сравнение парное: оба метода получают один шумный вход.</a:t>
            </a:r>
          </a:p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p &lt; 0,05: превосходство АКСФ в данном протоколе статистически подтверждено.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444444"/>
                </a:solidFill>
                <a:latin typeface="Calibri"/>
              </a:defRPr>
            </a:pPr>
            <a:r>
              <a:t>Это не доказательство универсальности для всех видов шума; это корректная проверка внутри заранее заданного эксперимента.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Реальный цветной YCbCr-режим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адаптация по Y, совместная фильтрация Y, Cb и Cr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5349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848"/>
                <a:gridCol w="1069848"/>
                <a:gridCol w="1069848"/>
                <a:gridCol w="1069848"/>
                <a:gridCol w="1069848"/>
              </a:tblGrid>
              <a:tr h="514350">
                <a:tc>
                  <a:txBody>
                    <a:bodyPr/>
                    <a:lstStyle/>
                    <a:p>
                      <a:pPr algn="l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Метод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PSNR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SSIM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EPI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мс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Без обработки (YCbCr)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24,00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0,3799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0,2168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1,1</a:t>
                      </a:r>
                    </a:p>
                  </a:txBody>
                  <a:tcPr marL="36576" marR="36576" marT="13716" marB="13716"/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Билатеральный (YCbCr)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28,65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0,6053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0,2479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121,1</a:t>
                      </a:r>
                    </a:p>
                  </a:txBody>
                  <a:tcPr marL="36576" marR="36576" marT="13716" marB="13716"/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АКСФ (YCbCr)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31,23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0,8413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0,2728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125,2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fig_color_psnr_vs_sig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440680" cy="32806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114800"/>
            <a:ext cx="108356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D62728"/>
                </a:solidFill>
                <a:latin typeface="Calibri"/>
              </a:defRPr>
            </a:pPr>
            <a:r>
              <a:t>АКСФ в YCbCr: +2,58 дБ к bilateral. Метрики: PSNR из среднего MSE трёх каналов; SSIM/EPI — среднее поканально.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Это не три независимых RGB-фильтра: вес использует яркость и цветность совместно.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Выводы и ограничения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что подтверждено, а что требует дальнейшей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АКСФ: 30,35 дБ, 0,7978 SSIM, 0,6340 EPI; целевое время 512×512 выполнено.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Ускоренный public-путь защищён регрессией относительно точного 2D-эталона.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Цветной YCbCr и Perona–Malik реализованы самостоятельно и включены в общий протокол.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Ограничения: AWGN, ограниченная калибровочная сетка, платформозависимое время, отсутствие испытаний на реальном камерном и импульсном шуме.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Следующий шаг: отдельные датасеты/шумовые модели и независимый тестовый набор.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2356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1F2D5C"/>
                </a:solidFill>
                <a:latin typeface="Calibri"/>
              </a:defRPr>
            </a:pPr>
            <a:r>
              <a:t>Спасибо за внимание — готов(а)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