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Здравствуйте! Тема моего проекта — разработка и исследование метода сглаживания изображений. Я не просто реализовал известные фильтры, а предложил собственный метод — адаптивный контрастно-структурный фильтр, реализовал его на языке Rust и экспериментально сравнил с классическими алгоритмами. Расскажу по порядку: сначала проблема, затем мой метод, затем результаты эксперимента.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Начнём с проблемы. Шум присутствует практически на любом реальном изображении: он возникает при съёмке при плохом освещении, при передаче по каналам связи, при сжатии. Мы используем классическую модель аддитивного белого гауссова шума: к каждому пикселю прибавляется случайная величина с нормальным распределением и стандартным отклонением сигма. На слайде справа видно зашумлённое изображение: мелкая зернистость разрушает детали. Задача сглаживания — убрать эту зернистость, но при этом не размыть контуры и текстуру. Главная сложность: уровень шума на практике заранее неизвестен, а параметры классических фильтров нужно подбирать вручную под каждый уровень шума и каждое изображение.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проекта — разработать собственный метод сглаживания, который настраивается автоматически: не требует ни знания уровня шума, ни ручного подбора параметров. Для этого нужно было решить шесть задач: изучить математические модели классических фильтров, разработать модификацию с локальной адаптацией, реализовать всё на Rust, спланировать и провести эксперимент на трёх изображениях и пяти уровнях шума, оценить качество по трём метрикам плюс время работы и честно зафиксировать ограничения. Про ограничения скажу отдельно в конце — для защиты это важно.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Классические методы. Фильтр скользящего среднего заменяет каждый пиксель средним по окну — это снижает дисперсию шума, но размывает всё изображение целиком, включая границы. Гауссов фильтр делает то же самое, но с большим весом центральных пикселей — переходы получаются мягче. Медианный фильтр берёт медиану: он отлично убирает импульсный шум, но на гауссовом шуме и мелкой текстуре работает хуже. На правой картинке видно результат гауссова фильтра на фрагменте платы: шум ушёл, но вместе с ним исчезли тонкие дорожки и мелкие надписи. Общая проблема всех трёх методов: сила размытия задаётся одним числом для всего изображения и подбирается вручную. А значит, всегда приходится выбирать между подавлением шума и сохранением деталей.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Следующий шаг — билатеральный фильтр. Он взвешивает пиксели окрестности не только по расстоянию, но и по разнице яркости: если яркость соседа сильно отличается от центральной — он считается «чужим» и почти не участвует в усреднении. За счёт этого границы объектов сохраняются. Но у фильтра есть принципиальное ограничение: параметр сигма_r, управляющий чувствительностью к разнице яркостей, один и тот же для всего изображения. Если он мал — в гладких областях шум останется, если велик — фильтр начнёт перескакивать через границы и размывать их. По нашим измерениям ручная подгонка параметров даёт этому фильтру плюс 2,3 децибела — то есть потенциал есть, но реализовать его без адаптации нельзя. Именно это противоречие натолкнуло меня на идею собственного метода.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Идея моего метода — адаптивного контрастно-структурного фильтра, сокращённо АКСФ — состоит из трёх шагов. Первый: автоматически оценить уровень шума прямо по зашумлённому изображению, используя известную оценку Иммеркера через отклик оператора Лапласа. Второй: построить карту структурной активности — для каждого пикселя оценить, сколько в нём «полезной» изменчивости, то есть структуры, а не шума. Третий: фильтровать так, чтобы параметр сигма_r в каждой точке зависел от этой карты. Получается, что в гладких областях фильтр сглаживает смело, а на контурах становится осторожным. Самое важное: коэффициенты правила безразмерные — они выражены в единицах оценки шума. Поэтому один и тот же набор параметров работает и при слабом, и при сильном шуме, и на любом изображении. Это и есть самонастройка.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Покажу математику метода. Шаг первый — оценка шума по Иммеркеру: изображение свёртывается с маской Лапласа, и среднее абсолютное значение отклика связано со стандартным отклонением шума известной формулой. Метод не требует эталона — только зашумленную картинку. Шаг второй — карта активности: в каждом окне считается выборочная дисперсия яркости, из неё вычитается дисперсия шума, известная из первого шага. Получается оценка дисперсии полезного сигнала; корень из неё — карта A. Вычитание дисперсии шума принципиально: без него шум в гладких областях маскировался бы под структуру. Шаг третий — правило адаптации: сигма_r плавно переходит от k_max·σ̂ в гладких областях к k_min·σ̂ на контурах. Конкретные значения коэффициентов я подобрал по сетке на уровнях шума 20 и 30 и больше их не менял — на слайде они приведены.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Вот как метод работает изнутри, на примере платы. Слева зашумлённое изображение. В центре — карта структурной активности, которую метод рассчитывает сам: светлые участки соответствуют контурам, дорожкам и мелким деталям, тёмные — гладким областям. Именно по этой карте настраивается сила сглаживания: там, где структура — фильтр почти не меняет пиксели, где гладко — сглаживает активно. Справа результат: шум на плоских участках подавлен, а тонкие дорожки и надписи сохранились. Обратите внимание: карту метод строит сам, без всякой разметки.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Методика эксперимента. Три стандартных тестовых изображения с разным характером содержимого: бабуин с сильной мелкой текстурой меха, плата с тонкими линиями и надписями, фрукты с крупными гладкими областями. Пять уровней шума от 10 до 40 единиц яркости. Важно: генератор шума использует фиксированное зерно, поэтому эксперимент полностью воспроизводим — при повторном запуске получаются в точности те же результаты. Сравниваются все классические фильтры. Отдельно я добавил «оракула» — билатеральный фильтр, которому мы разрешаем подобрать параметры под каждую конкретную задачу так, чтобы результат был максимально хорош. Это не реальный метод, а верхняя граница: показать, насколько близко наш метод подходит к теоретическому потолку этого семейства. Качество измеряем тремя метриками: PSNR — классическая метрика по ошибке, SSIM — структурное сходство и EPI — сохранение краёв.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Переходим к результатам — это главный слайд. В таблице средние значения по всем изображениям и уровням шума. Гауссов фильтр даёт 23 децибела, медианный — 22, билатеральный с универсальной настройкой — 24,15. Наш метод АКСФ — 26,14 децибела: это на 3 децибела лучше лучшего классического метода и на 2 лучше билатерального. И самое главное сравнение — с «оракулом»: у него 26,40, то есть мы отстаём всего на четверть децибела, хотя оракул подбирает параметры под каждую задачу вручную, а наш метод всегда работает с одними и теми же настройками. По структурному сходству SSIM картина та же: 0,72 против 0,58 у билатерального и 0,52 у гауссова. На графике справа видно, что красная кривая нашего метода почти совпадает с пунктирной кривой оракула на всём диапазоне шума. Единственная плата — время: 179 миллисекунд против 16 у гауссова фильтра.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Помимо цифр, посмотрим глазами. Это фрагмент изображения бабуина с шумом 25. Второй кадр — зашумлённое изображение: зерно разрушает текстуру меха. Третий — гауссов фильтр: шум ушёл, но мех превратился в однородное пятно, а это потеря реальных деталей. Четвёртый — билатеральный: структура лучше, но в шерсти остаётся шум. Пятый — наш метод: шум в гладких зонах подавлен, а текстура шерсти и контур глаза сохранены. Именно это и обещает карта активности — адаптация к локальной структуре.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Отдельно о надёжности — это вопросы, которые обычно задают на защите. Первое: не переобучены ли параметры под конкретный шум? Параметры выбирались на уровнях 20 и 30, а проверил я их на уровнях 10 и 40, которые в калибровке не участвовали: конфигурация осталась лучшей. Второе: оценка шума по Иммеркеру на текстурированных изображениях завышается — например, для бабуина она даёт 14,5 при реальном шуме 10. Но метод к этому почти нечувствителен: если подставить точное значение шума, результат улучшится всего на 0,09 децибела. Третье: я проверил, что выигрыш даёт именно адаптация, а не случайно удачное среднее значение параметра: контрольный вариант с постоянным сигма_r проигрывает половину децибела. И честно про ограничения: метод в разы медленнее простых фильтров и не рассчитан на импульсный шум — там лучше работает медианный фильтр.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Итоги. Главный результат работы: разработан, реализован и исследован собственный метод — адаптивный контрастно-структурный фильтр. Он основан на билатеральном фильтре, но параметр сглаживания вычисляется в каждой точке по карте структурной активности, а масштаб этой карты автоматически привязан к оценке уровня шума. Метод не требует ни знания шума, ни ручной настройки. Экспериментально он превосходит все классические фильтры — до трёх децибел по PSNR — и практически достигает верхней границы, которую показал бы вручную настроенный фильтр. Устойчивость подтверждена на незнакомых уровнях шума. Программа написана на Rust, около 1200 строк, все алгоритмы, метрики и даже генератор шума написаны мной с нуля без готовых библиотек обработки изображений.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завершение — направления развития. Первое и самое практичное: ускорение. Сейчас метод обрабатывает изображение за 179 миллисекунд, и это можно сократить в разы за счёт сепарабельных вычислений и целочисленной арифметики. Второе — обобщение на цветные изображения, там логично обрабатывать яркость отдельно от цветовых каналов. Третье — перенести идею адаптивного параметра на другие семейства фильтров. Четвёртое — гибрид с медианным фильтром для импульсного шума. Спасибо за внимание, готов ответить на вопросы. Наиболее вероятные вопросы и ответы: почему Rust — потому что скорость уровня C и надёжность; почему не нейросеть — потому что цель была создать прозрачный алгоритм без обучения, работающий по одной фотографии; как проверялась честность — все методы оцениваются одной программой на одинаковых зашумлённых данных с фиксированным seed.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Разработка и исследование метода сглаживания изображений</a:t>
            </a:r>
          </a:p>
          <a:p>
            <a:pPr>
              <a:defRPr sz="2400" b="1">
                <a:solidFill>
                  <a:srgbClr val="D62728"/>
                </a:solidFill>
                <a:latin typeface="Calibri"/>
              </a:defRPr>
            </a:pPr>
            <a:r>
              <a:t>адаптивный контрастно-структурный фильтр (АКСФ)</a:t>
            </a:r>
          </a:p>
          <a:p>
            <a:br/>
            <a:pPr>
              <a:defRPr sz="1800">
                <a:solidFill>
                  <a:srgbClr val="C9D6E8"/>
                </a:solidFill>
                <a:latin typeface="Calibri"/>
              </a:defRPr>
            </a:pPr>
            <a:r>
              <a:t>Учебный проект по обработке изображений</a:t>
            </a:r>
            <a:br/>
            <a:r>
              <a:t>Программная реализация — язык 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1206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Выполнил(а): ______________________            Группа: 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Проблема: шум и сглаживание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любое усреднение уменьшает шум, но размывает детали</a:t>
            </a:r>
          </a:p>
        </p:txBody>
      </p:sp>
      <p:pic>
        <p:nvPicPr>
          <p:cNvPr id="3" name="Picture 2" descr="fig_visual_fru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6949440" cy="16215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23444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Шум неизбежен при съёмке, передаче и сжатии изображений</a:t>
            </a:r>
          </a:p>
          <a:p>
            <a:pPr>
              <a:spcAft>
                <a:spcPts val="800"/>
              </a:spcAft>
              <a:defRPr sz="1600" b="1">
                <a:solidFill>
                  <a:srgbClr val="1F2D5C"/>
                </a:solidFill>
                <a:latin typeface="Calibri"/>
              </a:defRPr>
            </a:pPr>
            <a:r>
              <a:t>Модель: I_шум = I + n,  n ~ N(0, σ²)</a:t>
            </a:r>
          </a:p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Простое усреднение подавляет шум, но «замазывает» контуры и мелкую текстуру</a:t>
            </a:r>
          </a:p>
          <a:p>
            <a:pPr>
              <a:spcAft>
                <a:spcPts val="800"/>
              </a:spcAft>
              <a:defRPr sz="1600" b="1">
                <a:solidFill>
                  <a:srgbClr val="D62728"/>
                </a:solidFill>
                <a:latin typeface="Calibri"/>
              </a:defRPr>
            </a:pPr>
            <a:r>
              <a:t>• Нужны методы, которые сглаживают шум, но сохраняют структуру</a:t>
            </a:r>
          </a:p>
          <a:p>
            <a:pPr>
              <a:spcAft>
                <a:spcPts val="800"/>
              </a:spcAft>
              <a:defRPr sz="1600" b="1">
                <a:solidFill>
                  <a:srgbClr val="D62728"/>
                </a:solidFill>
                <a:latin typeface="Calibri"/>
              </a:defRPr>
            </a:pPr>
            <a:r>
              <a:t>• На практике уровень шума заранее НЕИЗВЕСТЕН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Цель и задачи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2D5C"/>
                </a:solidFill>
                <a:latin typeface="Calibri"/>
              </a:defRPr>
            </a:pPr>
            <a:r>
              <a:t>Цель: разработать собственный метод сглаживания, который настраивается автоматически — без знания уровня шума и без ручного подбора параметров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• изучить классические методы и их математические модели;</a:t>
            </a:r>
          </a:p>
          <a:p>
            <a:pPr>
              <a:spcAft>
                <a:spcPts val="10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• разработать модификацию фильтра с автоматической адаптацией к уровню шума и локальной структуре;</a:t>
            </a:r>
          </a:p>
          <a:p>
            <a:pPr>
              <a:spcAft>
                <a:spcPts val="10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• реализовать метод и методы сравнения на языке Rust;</a:t>
            </a:r>
          </a:p>
          <a:p>
            <a:pPr>
              <a:spcAft>
                <a:spcPts val="10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• спланировать и провести эксперимент: 3 изображения × 5 уровней шума × 8 методов;</a:t>
            </a:r>
          </a:p>
          <a:p>
            <a:pPr>
              <a:spcAft>
                <a:spcPts val="10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• оценить качество по метрикам PSNR, SSIM, EPI и по времени работы;</a:t>
            </a:r>
          </a:p>
          <a:p>
            <a:pPr>
              <a:spcAft>
                <a:spcPts val="1000"/>
              </a:spcAft>
              <a:defRPr sz="1800" b="0">
                <a:solidFill>
                  <a:srgbClr val="444444"/>
                </a:solidFill>
                <a:latin typeface="Calibri"/>
              </a:defRPr>
            </a:pPr>
            <a:r>
              <a:t>• честно определить ограничения метода и направления развития.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Классические методы сглаживания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и почему их недостаточно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55778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444444"/>
                </a:solidFill>
                <a:latin typeface="Calibri"/>
              </a:defRPr>
            </a:pPr>
            <a:r>
              <a:t>Скользящее среднее — среднее по окну k×k:</a:t>
            </a:r>
          </a:p>
          <a:p>
            <a:pPr>
              <a:spcAft>
                <a:spcPts val="800"/>
              </a:spcAft>
              <a:defRPr sz="1500" b="0">
                <a:solidFill>
                  <a:srgbClr val="1F2D5C"/>
                </a:solidFill>
                <a:latin typeface="Calibri"/>
              </a:defRPr>
            </a:pPr>
            <a:r>
              <a:t>Î(x,y) = (1/|W|) Σ I(x+s, y+t)</a:t>
            </a:r>
          </a:p>
          <a:p>
            <a:pPr>
              <a:spcAft>
                <a:spcPts val="800"/>
              </a:spcAft>
              <a:defRPr sz="1500" b="1">
                <a:solidFill>
                  <a:srgbClr val="444444"/>
                </a:solidFill>
                <a:latin typeface="Calibri"/>
              </a:defRPr>
            </a:pPr>
            <a:r>
              <a:t>Гауссов фильтр — взвешенное среднее:</a:t>
            </a:r>
          </a:p>
          <a:p>
            <a:pPr>
              <a:spcAft>
                <a:spcPts val="800"/>
              </a:spcAft>
              <a:defRPr sz="1500" b="0">
                <a:solidFill>
                  <a:srgbClr val="1F2D5C"/>
                </a:solidFill>
                <a:latin typeface="Calibri"/>
              </a:defRPr>
            </a:pPr>
            <a:r>
              <a:t>G(s,t) = exp(−(s²+t²)/2σs²)</a:t>
            </a:r>
          </a:p>
          <a:p>
            <a:pPr>
              <a:spcAft>
                <a:spcPts val="800"/>
              </a:spcAft>
              <a:defRPr sz="1500" b="1">
                <a:solidFill>
                  <a:srgbClr val="444444"/>
                </a:solidFill>
                <a:latin typeface="Calibri"/>
              </a:defRPr>
            </a:pPr>
            <a:r>
              <a:t>Медианный фильтр — медиана яркостей в окне:</a:t>
            </a:r>
          </a:p>
          <a:p>
            <a:pPr>
              <a:spcAft>
                <a:spcPts val="800"/>
              </a:spcAft>
              <a:defRPr sz="1500" b="0">
                <a:solidFill>
                  <a:srgbClr val="444444"/>
                </a:solidFill>
                <a:latin typeface="Calibri"/>
              </a:defRPr>
            </a:pPr>
            <a:r>
              <a:t>устойчив к импульсному шуму, но «стирает» мелкую текстуру</a:t>
            </a:r>
          </a:p>
        </p:txBody>
      </p:sp>
      <p:pic>
        <p:nvPicPr>
          <p:cNvPr id="4" name="Picture 3" descr="fig_visual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48640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484632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62728"/>
                </a:solidFill>
                <a:latin typeface="Calibri"/>
              </a:defRPr>
            </a:pPr>
            <a:r>
              <a:t>Общий недостаток: параметр размытия глобальный и подбирается вручную; сильнее давим шум — сильнее теряем детали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Билатеральный фильтр: шаг вперёд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но параметр σr — общий для всего изображения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i="1">
                <a:solidFill>
                  <a:srgbClr val="1F2D5C"/>
                </a:solidFill>
                <a:latin typeface="Cambria"/>
              </a:defRPr>
            </a:pPr>
            <a:r>
              <a:t>w(p,q) = exp(−‖p−q‖²/2σs²) · exp(−(I(p)−I(q))²/2σr²)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пространственный вес: ближние пиксели влияют сильнее;</a:t>
            </a:r>
          </a:p>
          <a:p>
            <a:pPr>
              <a:spcAft>
                <a:spcPts val="8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вес по яркости: пиксели с сильно отличающейся яркостью почти не учитываются — контуры сохраняются;</a:t>
            </a:r>
          </a:p>
          <a:p>
            <a:pPr>
              <a:spcAft>
                <a:spcPts val="800"/>
              </a:spcAft>
              <a:defRPr sz="1700" b="1">
                <a:solidFill>
                  <a:srgbClr val="D62728"/>
                </a:solidFill>
                <a:latin typeface="Calibri"/>
              </a:defRPr>
            </a:pPr>
            <a:r>
              <a:t>• Проблема: единственное σr на всё изображение — компромисс:</a:t>
            </a:r>
          </a:p>
          <a:p>
            <a:pPr>
              <a:spcAft>
                <a:spcPts val="8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малое σr → в гладких областях шум остаётся;</a:t>
            </a:r>
          </a:p>
          <a:p>
            <a:pPr>
              <a:spcAft>
                <a:spcPts val="8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большое σr → размываются контуры и мелкие детали;</a:t>
            </a:r>
          </a:p>
          <a:p>
            <a:pPr>
              <a:spcAft>
                <a:spcPts val="800"/>
              </a:spcAft>
              <a:defRPr sz="1700" b="1">
                <a:solidFill>
                  <a:srgbClr val="444444"/>
                </a:solidFill>
                <a:latin typeface="Calibri"/>
              </a:defRPr>
            </a:pPr>
            <a:r>
              <a:t>Эксперимент: при универсальной настройке билатеральный фильтр проигрывает варианту с подбором параметров ~2,3 дБ по PSNR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Идея собственного метода: АКСФ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адаптивный контрастно-структурный фильтр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F2D5C"/>
                </a:solidFill>
                <a:latin typeface="Calibri"/>
              </a:defRPr>
            </a:pPr>
            <a:r>
              <a:t>• 1. Оценить уровень шума σ̂ автоматически — по самому изображению (метод Иммеркера)</a:t>
            </a:r>
          </a:p>
          <a:p>
            <a:pPr>
              <a:spcAft>
                <a:spcPts val="1200"/>
              </a:spcAft>
              <a:defRPr sz="2000" b="1">
                <a:solidFill>
                  <a:srgbClr val="1F2D5C"/>
                </a:solidFill>
                <a:latin typeface="Calibri"/>
              </a:defRPr>
            </a:pPr>
            <a:r>
              <a:t>• 2. Построить карту структурной активности A(p) — очищенную от вклада шума</a:t>
            </a:r>
          </a:p>
          <a:p>
            <a:pPr>
              <a:spcAft>
                <a:spcPts val="1200"/>
              </a:spcAft>
              <a:defRPr sz="2000" b="1">
                <a:solidFill>
                  <a:srgbClr val="1F2D5C"/>
                </a:solidFill>
                <a:latin typeface="Calibri"/>
              </a:defRPr>
            </a:pPr>
            <a:r>
              <a:t>• 3. Сглаживать с параметром σr(p), который в каждой точке зависит от A(p)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в гладких областях (A ≈ 0): σr → k_max·σ̂ — сглаживаем смело, шум подавляется;</a:t>
            </a:r>
          </a:p>
          <a:p>
            <a:pPr>
              <a:spcAft>
                <a:spcPts val="12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на контурах и текстурах (A ≫ σ̂): σr → k_min·σ̂ — фильтр «осторожен», структура сохраняется;</a:t>
            </a:r>
          </a:p>
          <a:p>
            <a:pPr>
              <a:spcAft>
                <a:spcPts val="1200"/>
              </a:spcAft>
              <a:defRPr sz="1700" b="1">
                <a:solidFill>
                  <a:srgbClr val="D62728"/>
                </a:solidFill>
                <a:latin typeface="Calibri"/>
              </a:defRPr>
            </a:pPr>
            <a:r>
              <a:t>→ Коэффициенты k_min, k_max, c — безразмерные (в единицах σ̂), поэтому один набор работает при любом шуме и на любом изображении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АКСФ: математическая модель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три формулы — три шага метода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2D5C"/>
                </a:solidFill>
                <a:latin typeface="Calibri"/>
              </a:defRPr>
            </a:pPr>
            <a:r>
              <a:t>Шаг 1. Оценка уровня шума (Иммеркер, 1996):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8132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i="1">
                <a:solidFill>
                  <a:srgbClr val="1F2D5C"/>
                </a:solidFill>
                <a:latin typeface="Cambria"/>
              </a:defRPr>
            </a:pPr>
            <a:r>
              <a:t>σ̂ = sqrt(π/2) · Σ|I ∗ L| / (6·(W−2)·(H−2)),   L = [1 −2 1; −2 4 −2; 1 −2 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2D5C"/>
                </a:solidFill>
                <a:latin typeface="Calibri"/>
              </a:defRPr>
            </a:pPr>
            <a:r>
              <a:t>Шаг 2. Карта структурной активности (дисперсия минус дисперсия шума):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7860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F2D5C"/>
                </a:solidFill>
                <a:latin typeface="Cambria"/>
              </a:defRPr>
            </a:pPr>
            <a:r>
              <a:t>A(p) = sqrt( max(0, V(p) − σ̂²)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2D5C"/>
                </a:solidFill>
                <a:latin typeface="Calibri"/>
              </a:defRPr>
            </a:pPr>
            <a:r>
              <a:t>Шаг 3. Адаптивный параметр сглаживания: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D62728"/>
                </a:solidFill>
                <a:latin typeface="Cambria"/>
              </a:defRPr>
            </a:pPr>
            <a:r>
              <a:t>σr(p) = σ̂ · ( k_min + (k_max − k_min) · exp( −(A(p)/(c·σ̂))² 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348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σs = 2,0    k_min = 0,7    k_max = 3,2    c = 1,2    окно 11×11</a:t>
            </a:r>
          </a:p>
          <a:p>
            <a:pPr>
              <a:spcAft>
                <a:spcPts val="6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Все параметры выбраны однократно по уровням шума σ = 20 и 30 и далее не меняются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Как работает адаптация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карта структурной активности управляет силой сглаживания</a:t>
            </a:r>
          </a:p>
        </p:txBody>
      </p:sp>
      <p:pic>
        <p:nvPicPr>
          <p:cNvPr id="3" name="Picture 2" descr="fig_activit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418320" cy="3662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2120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Слева — зашумлённое изображение; в центре — рассчитанная карта A(p): яркие участки — контуры и мелкие детали; справа — результат: сила сглаживания распределена по карте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Методика эксперимента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честное сравнение: одинаковые условия для всех методов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44444"/>
                </a:solidFill>
                <a:latin typeface="Calibri"/>
              </a:defRPr>
            </a:pPr>
            <a:r>
              <a:t>3 тестовых изображения:</a:t>
            </a:r>
          </a:p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бабуин — сильная мелкая текстура;</a:t>
            </a:r>
          </a:p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плата — тонкие линии и мелкие детали;</a:t>
            </a:r>
          </a:p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фрукты — гладкие области с зерном;</a:t>
            </a:r>
          </a:p>
          <a:p>
            <a:pPr>
              <a:spcAft>
                <a:spcPts val="800"/>
              </a:spcAft>
              <a:defRPr sz="1600" b="1">
                <a:solidFill>
                  <a:srgbClr val="444444"/>
                </a:solidFill>
                <a:latin typeface="Calibri"/>
              </a:defRPr>
            </a:pPr>
            <a:r>
              <a:t>уровни шума σ = 10, 20, 25, 30, 40</a:t>
            </a:r>
          </a:p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фиксированный seed — эксперимент воспроизводим;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1430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44444"/>
                </a:solidFill>
                <a:latin typeface="Calibri"/>
              </a:defRPr>
            </a:pPr>
            <a:r>
              <a:t>Сравниваемые методы:</a:t>
            </a:r>
          </a:p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среднее 5×5, гауссов, медианный 5×5;</a:t>
            </a:r>
          </a:p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билатеральный (универсальная настройка);</a:t>
            </a:r>
          </a:p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билатеральный «оракул» — верхняя граница: параметры подбираются под каждую задачу</a:t>
            </a:r>
          </a:p>
          <a:p>
            <a:pPr>
              <a:spcAft>
                <a:spcPts val="800"/>
              </a:spcAft>
              <a:defRPr sz="1600" b="1">
                <a:solidFill>
                  <a:srgbClr val="D62728"/>
                </a:solidFill>
                <a:latin typeface="Calibri"/>
              </a:defRPr>
            </a:pPr>
            <a:r>
              <a:t>• АКСФ — наш метод, параметры фиксированы всегда</a:t>
            </a:r>
          </a:p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метрики: PSNR, SSIM, EPI + время работы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Результаты эксперимента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среднее по 3 изображениям и 5 уровням шума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34440"/>
          <a:ext cx="539495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7984"/>
                <a:gridCol w="912993"/>
                <a:gridCol w="746994"/>
                <a:gridCol w="746994"/>
                <a:gridCol w="829993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Метод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PSNR, дБ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SSIM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EPI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Время, мс</a:t>
                      </a:r>
                    </a:p>
                  </a:txBody>
                  <a:tcPr marL="54864" marR="36576" marT="9144" marB="9144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Гауссов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23,07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0,524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0,351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16</a:t>
                      </a:r>
                    </a:p>
                  </a:txBody>
                  <a:tcPr marL="54864" marR="36576" marT="9144" marB="9144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Медианный 5×5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22,06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0,414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0,010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83</a:t>
                      </a:r>
                    </a:p>
                  </a:txBody>
                  <a:tcPr marL="54864" marR="36576" marT="9144" marB="9144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Билатеральный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24,15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0,583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0,496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156</a:t>
                      </a:r>
                    </a:p>
                  </a:txBody>
                  <a:tcPr marL="54864" marR="36576" marT="9144" marB="9144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Билатеральный «оракул»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26,40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0,730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0,550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0">
                          <a:solidFill>
                            <a:srgbClr val="444444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 marL="54864" marR="36576" marT="9144" marB="9144"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50" b="1">
                          <a:solidFill>
                            <a:srgbClr val="D62728"/>
                          </a:solidFill>
                          <a:latin typeface="Calibri"/>
                        </a:defRPr>
                      </a:pPr>
                      <a:r>
                        <a:t>АКСФ (наш метод)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D62728"/>
                          </a:solidFill>
                          <a:latin typeface="Calibri"/>
                        </a:defRPr>
                      </a:pPr>
                      <a:r>
                        <a:t>26,14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D62728"/>
                          </a:solidFill>
                          <a:latin typeface="Calibri"/>
                        </a:defRPr>
                      </a:pPr>
                      <a:r>
                        <a:t>0,722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D62728"/>
                          </a:solidFill>
                          <a:latin typeface="Calibri"/>
                        </a:defRPr>
                      </a:pPr>
                      <a:r>
                        <a:t>0,548</a:t>
                      </a:r>
                    </a:p>
                  </a:txBody>
                  <a:tcPr marL="54864" marR="36576" marT="9144" marB="9144"/>
                </a:tc>
                <a:tc>
                  <a:txBody>
                    <a:bodyPr/>
                    <a:lstStyle/>
                    <a:p>
                      <a:pPr algn="ctr">
                        <a:defRPr sz="1350" b="1">
                          <a:solidFill>
                            <a:srgbClr val="D62728"/>
                          </a:solidFill>
                          <a:latin typeface="Calibri"/>
                        </a:defRPr>
                      </a:pPr>
                      <a:r>
                        <a:t>179</a:t>
                      </a:r>
                    </a:p>
                  </a:txBody>
                  <a:tcPr marL="54864" marR="36576" marT="9144" marB="9144"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48056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62728"/>
                </a:solidFill>
                <a:latin typeface="Calibri"/>
              </a:defRPr>
            </a:pPr>
            <a:r>
              <a:t>• +3,07 дБ к лучшему классическому методу</a:t>
            </a:r>
          </a:p>
          <a:p>
            <a:pPr>
              <a:spcAft>
                <a:spcPts val="800"/>
              </a:spcAft>
              <a:defRPr sz="1500" b="1">
                <a:solidFill>
                  <a:srgbClr val="444444"/>
                </a:solidFill>
                <a:latin typeface="Calibri"/>
              </a:defRPr>
            </a:pPr>
            <a:r>
              <a:t>• −0,26 дБ от «оракула» — без перебора параметров</a:t>
            </a:r>
          </a:p>
        </p:txBody>
      </p:sp>
      <p:pic>
        <p:nvPicPr>
          <p:cNvPr id="5" name="Picture 4" descr="fig_psnr_vs_sig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5669280" cy="30429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Визуальное сравнение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фрагмент изображения «бабуин», σ = 25</a:t>
            </a:r>
          </a:p>
        </p:txBody>
      </p:sp>
      <p:pic>
        <p:nvPicPr>
          <p:cNvPr id="3" name="Picture 2" descr="fig_visual_babo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11064240" cy="2581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47548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Гауссов фильтр «замыливает» мех; билатеральный кое-где сохраняет шум; АКСФ подавляет шум в гладких участках и сохраняет структуру меха и контур глаза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Надёжность метода</a:t>
            </a:r>
          </a:p>
          <a:p>
            <a:pPr>
              <a:defRPr sz="1400">
                <a:solidFill>
                  <a:srgbClr val="C9D6E8"/>
                </a:solidFill>
              </a:defRPr>
            </a:pPr>
            <a:r>
              <a:t>параметры не переобучены, метод устойчив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444444"/>
                </a:solidFill>
                <a:latin typeface="Calibri"/>
              </a:defRPr>
            </a:pPr>
            <a:r>
              <a:t>Параметры выбраны на σ = 20 и 30; проверка на «невиданных» σ = 10 и 40:</a:t>
            </a:r>
          </a:p>
          <a:p>
            <a:pPr>
              <a:spcAft>
                <a:spcPts val="1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выбранная конфигурация удержала 1-е место (26,93 дБ против 26,75 и 26,66 у альтернатив);</a:t>
            </a:r>
          </a:p>
          <a:p>
            <a:pPr>
              <a:spcAft>
                <a:spcPts val="14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Оценка уровня шума на текстурах завышается (для бабуина 14,5 при σ = 10), но качество почти не меняется: подстановка точного σ даёт всего +0,09 дБ</a:t>
            </a:r>
          </a:p>
          <a:p>
            <a:pPr>
              <a:spcAft>
                <a:spcPts val="1400"/>
              </a:spcAft>
              <a:defRPr sz="1700" b="1">
                <a:solidFill>
                  <a:srgbClr val="444444"/>
                </a:solidFill>
                <a:latin typeface="Calibri"/>
              </a:defRPr>
            </a:pPr>
            <a:r>
              <a:t>• Контроль вклада адаптации: тот же алгоритм с постоянным σr проигрывает 0,52 дБ — успех даёт именно адаптация, а не удачное среднее значение</a:t>
            </a:r>
          </a:p>
          <a:p>
            <a:pPr>
              <a:spcAft>
                <a:spcPts val="1400"/>
              </a:spcAft>
              <a:defRPr sz="1700" b="0">
                <a:solidFill>
                  <a:srgbClr val="D62728"/>
                </a:solidFill>
                <a:latin typeface="Calibri"/>
              </a:defRPr>
            </a:pPr>
            <a:r>
              <a:t>• Ограничения: в ~11 раз медленнее гауссова фильтра; не предназначен для импульсного шума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Разработан собственный метод сглаживания — АКСФ: билатеральный фильтр с локально адаптивным σr(p) и автоматической оценкой шума;</a:t>
            </a:r>
          </a:p>
          <a:p>
            <a:pPr>
              <a:spcAft>
                <a:spcPts val="13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метод самонастраивается: не требует знания уровня шума и ручного подбора параметров;</a:t>
            </a:r>
          </a:p>
          <a:p>
            <a:pPr>
              <a:spcAft>
                <a:spcPts val="13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по всем метрикам превосходит классические фильтры (до +3,07 дБ PSNR) и почти достигает «оракула» (−0,26 дБ);</a:t>
            </a:r>
          </a:p>
          <a:p>
            <a:pPr>
              <a:spcAft>
                <a:spcPts val="13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устойчивость подтверждена на уровнях шума, не участвовавших в калибровке;</a:t>
            </a:r>
          </a:p>
          <a:p>
            <a:pPr>
              <a:spcAft>
                <a:spcPts val="1300"/>
              </a:spcAft>
              <a:defRPr sz="1700" b="0">
                <a:solidFill>
                  <a:srgbClr val="444444"/>
                </a:solidFill>
                <a:latin typeface="Calibri"/>
              </a:defRPr>
            </a:pPr>
            <a:r>
              <a:t>• реализация на Rust: ~1200 строк, все алгоритмы и метрики написаны самостоятельно, эксперимент воспроизводим.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91440"/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Развитие метода и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D62728"/>
                </a:solidFill>
                <a:latin typeface="Calibri"/>
              </a:defRPr>
            </a:pPr>
            <a:r>
              <a:t>Уже доступно: обработка своих цветных фотографий (команда demo, режим --rgb)</a:t>
            </a:r>
          </a:p>
          <a:p>
            <a:pPr>
              <a:spcAft>
                <a:spcPts val="1200"/>
              </a:spcAft>
              <a:defRPr sz="1900" b="1">
                <a:solidFill>
                  <a:srgbClr val="1F2D5C"/>
                </a:solidFill>
                <a:latin typeface="Calibri"/>
              </a:defRPr>
            </a:pPr>
            <a:r>
              <a:t>Что можно улучшить:</a:t>
            </a:r>
          </a:p>
          <a:p>
            <a:pPr>
              <a:spcAft>
                <a:spcPts val="12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ускорение: сепарабельные вычисления, целочисленная арифметика (сейчас 179 мс → цель &lt; 30 мс);</a:t>
            </a:r>
          </a:p>
          <a:p>
            <a:pPr>
              <a:spcAft>
                <a:spcPts val="12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обобщение на цветные изображения (яркость–цветность);</a:t>
            </a:r>
          </a:p>
          <a:p>
            <a:pPr>
              <a:spcAft>
                <a:spcPts val="12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перенос идеи адаптивного параметра на вейвлет-фильтрацию и нелокальные средние;</a:t>
            </a:r>
          </a:p>
          <a:p>
            <a:pPr>
              <a:spcAft>
                <a:spcPts val="1200"/>
              </a:spcAft>
              <a:defRPr sz="1600" b="0">
                <a:solidFill>
                  <a:srgbClr val="444444"/>
                </a:solidFill>
                <a:latin typeface="Calibri"/>
              </a:defRPr>
            </a:pPr>
            <a:r>
              <a:t>• добавление обработки импульсного шума (гибрид с медианным фильтром).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75488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D62728"/>
                </a:solidFill>
                <a:latin typeface="Calibri"/>
              </a:defRPr>
            </a:pPr>
            <a:r>
              <a:t>Спасибо за внимание!</a:t>
            </a:r>
          </a:p>
          <a:p>
            <a:pPr>
              <a:defRPr sz="1700">
                <a:solidFill>
                  <a:srgbClr val="444444"/>
                </a:solidFill>
                <a:latin typeface="Calibri"/>
              </a:defRPr>
            </a:pPr>
            <a:r>
              <a:t>Готов(а) ответить на вопросы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