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35" autoAdjust="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53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Здравствуйте! Наш проект </a:t>
            </a:r>
            <a:r>
              <a:rPr lang="ru-RU"/>
              <a:t>-</a:t>
            </a:r>
            <a:r>
              <a:t> про сглаживание изображений. Простыми словами: нужно убрать шум с фотографии и при этом не затереть детали. Покажу три вещи: почему привычное размытие эту задачу не решает, какую идею мы придумали вместо него </a:t>
            </a:r>
            <a:r>
              <a:rPr lang="ru-RU"/>
              <a:t>-</a:t>
            </a:r>
            <a:r>
              <a:t> и как всё это устроено в коде. Разбору программы выделю отдельный блок в середине: покажу все шесть файлов и скажу, что в каждом главное. В конце </a:t>
            </a:r>
            <a:r>
              <a:rPr lang="ru-RU"/>
              <a:t>-</a:t>
            </a:r>
            <a:r>
              <a:t> честные измерения.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Представьте, что снимаете в сумерках или на старый телефон: в тенях появляется крупное зерно. Это шум </a:t>
            </a:r>
            <a:r>
              <a:rPr lang="ru-RU"/>
              <a:t>-</a:t>
            </a:r>
            <a:r>
              <a:t> случайные колебания яркости. У математиков для него есть простая модель: к каждому пикселю прибавляется случайное число с нормальным распределением, а его силу обозначают буквой сигма. На слайде плата, как будто снятая при плохом свете: мелкие дорожки и подписи тонут в зерне. Дальше вопрос один </a:t>
            </a:r>
            <a:r>
              <a:rPr lang="ru-RU"/>
              <a:t>-</a:t>
            </a:r>
            <a:r>
              <a:t> как это убрать.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Первый порыв </a:t>
            </a:r>
            <a:r>
              <a:rPr lang="ru-RU"/>
              <a:t>-</a:t>
            </a:r>
            <a:r>
              <a:t> усреднить соседние пиксели. Случайные колебания при этом гасятся отлично: шум исчезает. Но вместе с ним исчезает и всё остальное. Посмотрите вправо: дорожки, подписи и контакты превратились в размытое пятно. Фильтр не спрашивает, что перед ним </a:t>
            </a:r>
            <a:r>
              <a:rPr lang="ru-RU"/>
              <a:t>-</a:t>
            </a:r>
            <a:r>
              <a:t> зерно или настоящая деталь, он давит всё одинаково. Вот в этом противоречии и живёт вся тема: чем сильнее чистим, тем больше теряем.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Классика </a:t>
            </a:r>
            <a:r>
              <a:rPr lang="ru-RU"/>
              <a:t>-</a:t>
            </a:r>
            <a:r>
              <a:t> четыре подхода. Усреднение по окну: самое простое и грубое. Гауссов фильтр: то же усреднение, но ближние пиксели весят больше, поэтому переходы мягче. Медианный: берёт средний по величине пиксель, он хорош против одиночных выбросов, но мелкую текстуру стирает в пятна. Билатеральный </a:t>
            </a:r>
            <a:r>
              <a:rPr lang="ru-RU"/>
              <a:t>-</a:t>
            </a:r>
            <a:r>
              <a:t> самый умный: он учитывает разницу яркостей и границы сохраняет заметно лучше, отсюда и лучшие двадцать четыре децибела из четырёх. И всё-таки у всех общая беда: настройка задаётся один раз и молча действует на всю картинку. Об этом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Возьмём лучший из классики </a:t>
            </a:r>
            <a:r>
              <a:rPr lang="ru-RU"/>
              <a:t>-</a:t>
            </a:r>
            <a:r>
              <a:t> билатеральный фильтр. У него есть параметр сигма_r: он решает, что считать шумом, а что </a:t>
            </a:r>
            <a:r>
              <a:rPr lang="ru-RU"/>
              <a:t>-</a:t>
            </a:r>
            <a:r>
              <a:t> деталью. И он один на всё изображение. Поставим маленький </a:t>
            </a:r>
            <a:r>
              <a:rPr lang="ru-RU"/>
              <a:t>-</a:t>
            </a:r>
            <a:r>
              <a:t> в гладких местах шум останется. Поставим большой </a:t>
            </a:r>
            <a:r>
              <a:rPr lang="ru-RU"/>
              <a:t>-</a:t>
            </a:r>
            <a:r>
              <a:t> фильтр начнёт перескакивать границы и стирать структуру. Пунктирная кривая </a:t>
            </a:r>
            <a:r>
              <a:rPr lang="ru-RU"/>
              <a:t>-</a:t>
            </a:r>
            <a:r>
              <a:t> тот же фильтр, но с нечестной форой: для каждой картинки и каждого уровня шума ему вручную подобрали σr по готовому ответу. В реальной задаче такой подбор взять неоткуда, поэтому это верхняя граница классики. Даже эта фора даёт всего плюс два с половиной децибела к обычному билатеральному, а наша красная кривая отстаёт от неё всего на четверть децибела. Вот эту разницу наш метод и закрывает сам, без ручного подбора.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Идея</a:t>
            </a:r>
            <a:r>
              <a:rPr dirty="0"/>
              <a:t> </a:t>
            </a:r>
            <a:r>
              <a:rPr dirty="0" err="1"/>
              <a:t>пришла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простого</a:t>
            </a:r>
            <a:r>
              <a:rPr dirty="0"/>
              <a:t> </a:t>
            </a:r>
            <a:r>
              <a:rPr dirty="0" err="1"/>
              <a:t>наблюдения</a:t>
            </a:r>
            <a:r>
              <a:rPr dirty="0"/>
              <a:t>: в </a:t>
            </a:r>
            <a:r>
              <a:rPr dirty="0" err="1"/>
              <a:t>гладком</a:t>
            </a:r>
            <a:r>
              <a:rPr dirty="0"/>
              <a:t> </a:t>
            </a:r>
            <a:r>
              <a:rPr dirty="0" err="1"/>
              <a:t>небе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 </a:t>
            </a:r>
            <a:r>
              <a:rPr dirty="0" err="1"/>
              <a:t>неприятен</a:t>
            </a:r>
            <a:r>
              <a:rPr dirty="0"/>
              <a:t>, а </a:t>
            </a:r>
            <a:r>
              <a:rPr dirty="0" err="1"/>
              <a:t>на</a:t>
            </a:r>
            <a:r>
              <a:rPr dirty="0"/>
              <a:t> </a:t>
            </a:r>
            <a:r>
              <a:rPr err="1"/>
              <a:t>мехе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неразличим</a:t>
            </a:r>
            <a:r>
              <a:rPr dirty="0"/>
              <a:t>. </a:t>
            </a:r>
            <a:r>
              <a:rPr dirty="0" err="1"/>
              <a:t>Значит</a:t>
            </a:r>
            <a:r>
              <a:rPr dirty="0"/>
              <a:t>, и </a:t>
            </a:r>
            <a:r>
              <a:rPr dirty="0" err="1"/>
              <a:t>сглаживать</a:t>
            </a:r>
            <a:r>
              <a:rPr dirty="0"/>
              <a:t> </a:t>
            </a:r>
            <a:r>
              <a:rPr dirty="0" err="1"/>
              <a:t>надо</a:t>
            </a:r>
            <a:r>
              <a:rPr dirty="0"/>
              <a:t> </a:t>
            </a:r>
            <a:r>
              <a:rPr dirty="0" err="1"/>
              <a:t>по-разному</a:t>
            </a:r>
            <a:r>
              <a:rPr dirty="0"/>
              <a:t>. 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</a:t>
            </a:r>
            <a:r>
              <a:rPr dirty="0" err="1"/>
              <a:t>карту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: в </a:t>
            </a:r>
            <a:r>
              <a:rPr dirty="0" err="1"/>
              <a:t>центре</a:t>
            </a:r>
            <a:r>
              <a:rPr dirty="0"/>
              <a:t> </a:t>
            </a:r>
            <a:r>
              <a:rPr dirty="0" err="1"/>
              <a:t>слайда</a:t>
            </a:r>
            <a:r>
              <a:rPr dirty="0"/>
              <a:t> </a:t>
            </a:r>
            <a:r>
              <a:rPr dirty="0" err="1"/>
              <a:t>светлые</a:t>
            </a:r>
            <a:r>
              <a:rPr dirty="0"/>
              <a:t> </a:t>
            </a:r>
            <a:r>
              <a:rPr err="1"/>
              <a:t>места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контуры</a:t>
            </a:r>
            <a:r>
              <a:rPr dirty="0"/>
              <a:t> и </a:t>
            </a:r>
            <a:r>
              <a:rPr dirty="0" err="1"/>
              <a:t>мелкие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, </a:t>
            </a:r>
            <a:r>
              <a:rPr err="1"/>
              <a:t>тёмные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гладкие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.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карте</a:t>
            </a:r>
            <a:r>
              <a:rPr dirty="0"/>
              <a:t> </a:t>
            </a: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сила</a:t>
            </a:r>
            <a:r>
              <a:rPr dirty="0"/>
              <a:t> </a:t>
            </a:r>
            <a:r>
              <a:rPr dirty="0" err="1"/>
              <a:t>сглаживания</a:t>
            </a:r>
            <a:r>
              <a:rPr dirty="0"/>
              <a:t>: </a:t>
            </a:r>
            <a:r>
              <a:rPr dirty="0" err="1"/>
              <a:t>где</a:t>
            </a:r>
            <a:r>
              <a:rPr dirty="0"/>
              <a:t> </a:t>
            </a:r>
            <a:r>
              <a:rPr err="1"/>
              <a:t>структура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ведём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 </a:t>
            </a:r>
            <a:r>
              <a:rPr dirty="0" err="1"/>
              <a:t>аккуратно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err="1"/>
              <a:t>гладко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давим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 </a:t>
            </a:r>
            <a:r>
              <a:rPr dirty="0" err="1"/>
              <a:t>смело</a:t>
            </a:r>
            <a:r>
              <a:rPr dirty="0"/>
              <a:t>.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эталона</a:t>
            </a:r>
            <a:r>
              <a:rPr dirty="0"/>
              <a:t> и </a:t>
            </a:r>
            <a:r>
              <a:rPr dirty="0" err="1"/>
              <a:t>без</a:t>
            </a:r>
            <a:r>
              <a:rPr dirty="0"/>
              <a:t> </a:t>
            </a:r>
            <a:r>
              <a:rPr err="1"/>
              <a:t>обучения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фотографии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Метод целиком помещается в три формулы, и по-человечески это звучит так. Первая: пробегаем по картинке оператором Лапласа и по силе отклика понимаем, насколько она зашумлена </a:t>
            </a:r>
            <a:r>
              <a:rPr lang="ru-RU"/>
              <a:t>-</a:t>
            </a:r>
            <a:r>
              <a:t> эталон не нужен, справляемся одной фотографией. Вторая: считаем локальный разброс яркостей и вычитаем из него разброс шума </a:t>
            </a:r>
            <a:r>
              <a:rPr lang="ru-RU"/>
              <a:t>-</a:t>
            </a:r>
            <a:r>
              <a:t> получается карта структуры; вычитание здесь обязательно, иначе шум сам себя выдаёт за детали. Третья: переводим карту в силу сглаживания </a:t>
            </a:r>
            <a:r>
              <a:rPr lang="ru-RU"/>
              <a:t>-</a:t>
            </a:r>
            <a:r>
              <a:t> плавную, без резких переключений. Коэффициенты подобраны один раз и привязаны к оценке шума, поэтому переносятся на любую картинку.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Слева шумная плата, справа </a:t>
            </a:r>
            <a:r>
              <a:rPr lang="ru-RU"/>
              <a:t>-</a:t>
            </a:r>
            <a:r>
              <a:t> результат моего метода. Гладкие участки очистились, а дорожки, контакты и подписи никуда не делись. И подчеркну важное: это те же настройки, что и для всех остальных картинок проекта. Никакой подгонки под конкретный кадр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Дальше </a:t>
            </a:r>
            <a:r>
              <a:rPr lang="ru-RU"/>
              <a:t>-</a:t>
            </a:r>
            <a:r>
              <a:t> код, и мы разберём все шесть файлов: что в каждом главное и как оно работает. Логика разбиения простая: один файл читает и сохраняет изображения, второй подмешивает шум, третий </a:t>
            </a:r>
            <a:r>
              <a:rPr lang="ru-RU"/>
              <a:t>-</a:t>
            </a:r>
            <a:r>
              <a:t> все фильтры и наш метод, четвёртый считает метрики, пятый ставит эксперименты, шестой принимает команды от пользователя. Внешняя библиотека всего одна </a:t>
            </a:r>
            <a:r>
              <a:rPr lang="ru-RU"/>
              <a:t>-</a:t>
            </a:r>
            <a:r>
              <a:t> та, что открывает PNG и JPEG. Все алгоритмы, метрики и даже генератор случайных чисел написаны с нуля: так проект можно объяснить от первой строки до последней, и не будет сюрпризов при обновлении зависимостей.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Открываем главный файл </a:t>
            </a:r>
            <a:r>
              <a:rPr lang="ru-RU"/>
              <a:t>-</a:t>
            </a:r>
            <a:r>
              <a:t> filters.rs: здесь и соперники, и наш метод. Первая функция вспомогательная </a:t>
            </a:r>
            <a:r>
              <a:rPr lang="ru-RU"/>
              <a:t>-</a:t>
            </a:r>
            <a:r>
              <a:t> заранее считает таблицу гауссовых весов, чтобы не гонять экспоненту в каждом окне. Дальше три классических фильтра: усреднение, гауссов и медианный </a:t>
            </a:r>
            <a:r>
              <a:rPr lang="ru-RU"/>
              <a:t>-</a:t>
            </a:r>
            <a:r>
              <a:t> честные соперники для сравнения. Потом билатеральный, самый умный из классики, </a:t>
            </a:r>
            <a:r>
              <a:rPr lang="ru-RU"/>
              <a:t>-</a:t>
            </a:r>
            <a:r>
              <a:t> от него мы и отталкивались. Затем функция, которая строит карту структуры: по ней метод понимает, где сглаживать смелее, а где осторожнее. И венец </a:t>
            </a:r>
            <a:r>
              <a:rPr lang="ru-RU"/>
              <a:t>-</a:t>
            </a:r>
            <a:r>
              <a:t> acsf, сам метод. Замыкает список утилита, которая сохраняет карту структуры картинкой: её вы уже видели.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/>
              <a:t>Вот</a:t>
            </a:r>
            <a:r>
              <a:rPr sz="1400" dirty="0"/>
              <a:t> </a:t>
            </a:r>
            <a:r>
              <a:rPr sz="1400" dirty="0" err="1"/>
              <a:t>сердце</a:t>
            </a:r>
            <a:r>
              <a:rPr sz="1400" dirty="0"/>
              <a:t> </a:t>
            </a:r>
            <a:r>
              <a:rPr sz="1400" err="1"/>
              <a:t>метода</a:t>
            </a:r>
            <a:r>
              <a:rPr sz="1400"/>
              <a:t> </a:t>
            </a:r>
            <a:r>
              <a:rPr lang="ru-RU" sz="1400"/>
              <a:t>-</a:t>
            </a:r>
            <a:r>
              <a:rPr sz="1400"/>
              <a:t> </a:t>
            </a:r>
            <a:r>
              <a:rPr sz="1400" dirty="0" err="1"/>
              <a:t>функция</a:t>
            </a:r>
            <a:r>
              <a:rPr sz="1400" dirty="0"/>
              <a:t> </a:t>
            </a:r>
            <a:r>
              <a:rPr sz="1400" dirty="0" err="1"/>
              <a:t>acsf</a:t>
            </a:r>
            <a:r>
              <a:rPr sz="1400" dirty="0"/>
              <a:t>, </a:t>
            </a:r>
            <a:r>
              <a:rPr sz="1400" dirty="0" err="1"/>
              <a:t>сорок</a:t>
            </a:r>
            <a:r>
              <a:rPr sz="1400" dirty="0"/>
              <a:t> </a:t>
            </a:r>
            <a:r>
              <a:rPr sz="1400" dirty="0" err="1"/>
              <a:t>строк</a:t>
            </a:r>
            <a:r>
              <a:rPr sz="1400" dirty="0"/>
              <a:t>, </a:t>
            </a:r>
            <a:r>
              <a:rPr sz="1400" dirty="0" err="1"/>
              <a:t>три</a:t>
            </a:r>
            <a:r>
              <a:rPr sz="1400" dirty="0"/>
              <a:t> </a:t>
            </a:r>
            <a:r>
              <a:rPr sz="1400" dirty="0" err="1"/>
              <a:t>шага</a:t>
            </a:r>
            <a:r>
              <a:rPr sz="1400" dirty="0"/>
              <a:t>, </a:t>
            </a:r>
            <a:r>
              <a:rPr sz="1400" dirty="0" err="1"/>
              <a:t>ровно</a:t>
            </a:r>
            <a:r>
              <a:rPr sz="1400" dirty="0"/>
              <a:t> </a:t>
            </a:r>
            <a:r>
              <a:rPr sz="1400" dirty="0" err="1"/>
              <a:t>как</a:t>
            </a:r>
            <a:r>
              <a:rPr sz="1400" dirty="0"/>
              <a:t> в </a:t>
            </a:r>
            <a:r>
              <a:rPr sz="1400" dirty="0" err="1"/>
              <a:t>формулах</a:t>
            </a:r>
            <a:r>
              <a:rPr sz="1400" dirty="0"/>
              <a:t>. </a:t>
            </a:r>
            <a:r>
              <a:rPr sz="1400" dirty="0" err="1"/>
              <a:t>Сначала</a:t>
            </a:r>
            <a:r>
              <a:rPr sz="1400" dirty="0"/>
              <a:t> </a:t>
            </a:r>
            <a:r>
              <a:rPr sz="1400" dirty="0" err="1"/>
              <a:t>оцениваем</a:t>
            </a:r>
            <a:r>
              <a:rPr sz="1400" dirty="0"/>
              <a:t> </a:t>
            </a:r>
            <a:r>
              <a:rPr sz="1400" dirty="0" err="1"/>
              <a:t>шум</a:t>
            </a:r>
            <a:r>
              <a:rPr sz="1400" dirty="0"/>
              <a:t>. </a:t>
            </a:r>
            <a:r>
              <a:rPr sz="1400" dirty="0" err="1"/>
              <a:t>Потом</a:t>
            </a:r>
            <a:r>
              <a:rPr sz="1400" dirty="0"/>
              <a:t> </a:t>
            </a:r>
            <a:r>
              <a:rPr sz="1400" dirty="0" err="1"/>
              <a:t>строим</a:t>
            </a:r>
            <a:r>
              <a:rPr sz="1400" dirty="0"/>
              <a:t> </a:t>
            </a:r>
            <a:r>
              <a:rPr sz="1400" dirty="0" err="1"/>
              <a:t>карту</a:t>
            </a:r>
            <a:r>
              <a:rPr sz="1400" dirty="0"/>
              <a:t> </a:t>
            </a:r>
            <a:r>
              <a:rPr sz="1400" dirty="0" err="1"/>
              <a:t>структуры</a:t>
            </a:r>
            <a:r>
              <a:rPr sz="1400" dirty="0"/>
              <a:t>. </a:t>
            </a:r>
            <a:r>
              <a:rPr sz="1400" dirty="0" err="1"/>
              <a:t>Потом</a:t>
            </a:r>
            <a:r>
              <a:rPr sz="1400" dirty="0"/>
              <a:t> </a:t>
            </a:r>
            <a:r>
              <a:rPr sz="1400" dirty="0" err="1"/>
              <a:t>проходим</a:t>
            </a:r>
            <a:r>
              <a:rPr sz="1400" dirty="0"/>
              <a:t> </a:t>
            </a:r>
            <a:r>
              <a:rPr sz="1400" dirty="0" err="1"/>
              <a:t>циклом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всем</a:t>
            </a:r>
            <a:r>
              <a:rPr sz="1400" dirty="0"/>
              <a:t> </a:t>
            </a:r>
            <a:r>
              <a:rPr sz="1400" dirty="0" err="1"/>
              <a:t>пикселям</a:t>
            </a:r>
            <a:r>
              <a:rPr sz="1400" dirty="0"/>
              <a:t>: </a:t>
            </a:r>
            <a:r>
              <a:rPr sz="1400" dirty="0" err="1"/>
              <a:t>для</a:t>
            </a:r>
            <a:r>
              <a:rPr sz="1400" dirty="0"/>
              <a:t> </a:t>
            </a:r>
            <a:r>
              <a:rPr sz="1400" dirty="0" err="1"/>
              <a:t>каждого</a:t>
            </a:r>
            <a:r>
              <a:rPr sz="1400" dirty="0"/>
              <a:t> </a:t>
            </a:r>
            <a:r>
              <a:rPr sz="1400" dirty="0" err="1"/>
              <a:t>считаем</a:t>
            </a:r>
            <a:r>
              <a:rPr sz="1400" dirty="0"/>
              <a:t> </a:t>
            </a:r>
            <a:r>
              <a:rPr sz="1400" dirty="0" err="1"/>
              <a:t>свою</a:t>
            </a:r>
            <a:r>
              <a:rPr sz="1400" dirty="0"/>
              <a:t> </a:t>
            </a:r>
            <a:r>
              <a:rPr sz="1400" dirty="0" err="1"/>
              <a:t>сигма_r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формуле</a:t>
            </a:r>
            <a:r>
              <a:rPr sz="1400" dirty="0"/>
              <a:t> с </a:t>
            </a:r>
            <a:r>
              <a:rPr sz="1400" dirty="0" err="1"/>
              <a:t>экспонентой</a:t>
            </a:r>
            <a:r>
              <a:rPr sz="1400" dirty="0"/>
              <a:t> и </a:t>
            </a:r>
            <a:r>
              <a:rPr sz="1400" dirty="0" err="1"/>
              <a:t>берём</a:t>
            </a:r>
            <a:r>
              <a:rPr sz="1400" dirty="0"/>
              <a:t> </a:t>
            </a:r>
            <a:r>
              <a:rPr sz="1400" dirty="0" err="1"/>
              <a:t>взвешенное</a:t>
            </a:r>
            <a:r>
              <a:rPr sz="1400" dirty="0"/>
              <a:t> </a:t>
            </a:r>
            <a:r>
              <a:rPr sz="1400" dirty="0" err="1"/>
              <a:t>среднее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окрестности</a:t>
            </a:r>
            <a:r>
              <a:rPr sz="1400" dirty="0"/>
              <a:t>. </a:t>
            </a:r>
            <a:r>
              <a:rPr sz="1400" dirty="0" err="1"/>
              <a:t>Обратите</a:t>
            </a:r>
            <a:r>
              <a:rPr sz="1400" dirty="0"/>
              <a:t> </a:t>
            </a:r>
            <a:r>
              <a:rPr sz="1400" dirty="0" err="1"/>
              <a:t>внимание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две</a:t>
            </a:r>
            <a:r>
              <a:rPr sz="1400" dirty="0"/>
              <a:t> </a:t>
            </a:r>
            <a:r>
              <a:rPr sz="1400" dirty="0" err="1"/>
              <a:t>вещи</a:t>
            </a:r>
            <a:r>
              <a:rPr sz="1400" dirty="0"/>
              <a:t>. </a:t>
            </a:r>
            <a:r>
              <a:rPr sz="1400" dirty="0" err="1"/>
              <a:t>Здесь</a:t>
            </a:r>
            <a:r>
              <a:rPr sz="1400" dirty="0"/>
              <a:t> </a:t>
            </a:r>
            <a:r>
              <a:rPr sz="1400" dirty="0" err="1"/>
              <a:t>нет</a:t>
            </a:r>
            <a:r>
              <a:rPr sz="1400" dirty="0"/>
              <a:t> </a:t>
            </a:r>
            <a:r>
              <a:rPr sz="1400" dirty="0" err="1"/>
              <a:t>ни</a:t>
            </a:r>
            <a:r>
              <a:rPr sz="1400" dirty="0"/>
              <a:t> </a:t>
            </a:r>
            <a:r>
              <a:rPr sz="1400" dirty="0" err="1"/>
              <a:t>одной</a:t>
            </a:r>
            <a:r>
              <a:rPr sz="1400" dirty="0"/>
              <a:t> </a:t>
            </a:r>
            <a:r>
              <a:rPr sz="1400" dirty="0" err="1"/>
              <a:t>обучаемой</a:t>
            </a:r>
            <a:r>
              <a:rPr sz="1400" dirty="0"/>
              <a:t> </a:t>
            </a:r>
            <a:r>
              <a:rPr sz="1400" err="1"/>
              <a:t>величины</a:t>
            </a:r>
            <a:r>
              <a:rPr sz="1400"/>
              <a:t> </a:t>
            </a:r>
            <a:r>
              <a:rPr lang="ru-RU" sz="1400"/>
              <a:t>-</a:t>
            </a:r>
            <a:r>
              <a:rPr sz="1400"/>
              <a:t> </a:t>
            </a:r>
            <a:r>
              <a:rPr sz="1400" dirty="0" err="1"/>
              <a:t>все</a:t>
            </a:r>
            <a:r>
              <a:rPr sz="1400" dirty="0"/>
              <a:t> </a:t>
            </a:r>
            <a:r>
              <a:rPr sz="1400" dirty="0" err="1"/>
              <a:t>коэффициенты</a:t>
            </a:r>
            <a:r>
              <a:rPr sz="1400" dirty="0"/>
              <a:t> </a:t>
            </a:r>
            <a:r>
              <a:rPr sz="1400" dirty="0" err="1"/>
              <a:t>зафиксированы</a:t>
            </a:r>
            <a:r>
              <a:rPr sz="1400" dirty="0"/>
              <a:t>. И </a:t>
            </a:r>
            <a:r>
              <a:rPr sz="1400" dirty="0" err="1"/>
              <a:t>код</a:t>
            </a:r>
            <a:r>
              <a:rPr sz="1400" dirty="0"/>
              <a:t> </a:t>
            </a:r>
            <a:r>
              <a:rPr sz="1400" dirty="0" err="1"/>
              <a:t>читается</a:t>
            </a:r>
            <a:r>
              <a:rPr sz="1400" dirty="0"/>
              <a:t> </a:t>
            </a:r>
            <a:r>
              <a:rPr sz="1400" dirty="0" err="1"/>
              <a:t>как</a:t>
            </a:r>
            <a:r>
              <a:rPr sz="1400" dirty="0"/>
              <a:t> </a:t>
            </a:r>
            <a:r>
              <a:rPr sz="1400" dirty="0" err="1"/>
              <a:t>формулы</a:t>
            </a:r>
            <a:r>
              <a:rPr sz="1400" dirty="0"/>
              <a:t>: </a:t>
            </a:r>
            <a:r>
              <a:rPr sz="1400" dirty="0" err="1"/>
              <a:t>мы</a:t>
            </a:r>
            <a:r>
              <a:rPr sz="1400" dirty="0"/>
              <a:t> </a:t>
            </a:r>
            <a:r>
              <a:rPr sz="1400" dirty="0" err="1"/>
              <a:t>специально</a:t>
            </a:r>
            <a:r>
              <a:rPr sz="1400" dirty="0"/>
              <a:t>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стали</a:t>
            </a:r>
            <a:r>
              <a:rPr sz="1400" dirty="0"/>
              <a:t> </a:t>
            </a:r>
            <a:r>
              <a:rPr sz="1400" dirty="0" err="1"/>
              <a:t>его</a:t>
            </a:r>
            <a:r>
              <a:rPr sz="1400" dirty="0"/>
              <a:t> «</a:t>
            </a:r>
            <a:r>
              <a:rPr sz="1400" dirty="0" err="1"/>
              <a:t>оптимизировать</a:t>
            </a:r>
            <a:r>
              <a:rPr sz="1400" dirty="0"/>
              <a:t>» </a:t>
            </a:r>
            <a:r>
              <a:rPr sz="1400" dirty="0" err="1"/>
              <a:t>до</a:t>
            </a:r>
            <a:r>
              <a:rPr sz="1400" dirty="0"/>
              <a:t> </a:t>
            </a:r>
            <a:r>
              <a:rPr sz="1400" dirty="0" err="1"/>
              <a:t>нечитаемого</a:t>
            </a:r>
            <a:r>
              <a:rPr sz="1400" dirty="0"/>
              <a:t> </a:t>
            </a:r>
            <a:r>
              <a:rPr sz="1400" dirty="0" err="1"/>
              <a:t>вида</a:t>
            </a:r>
            <a:r>
              <a:rPr sz="1400" dirty="0"/>
              <a:t>, </a:t>
            </a:r>
            <a:r>
              <a:rPr sz="1400" dirty="0" err="1"/>
              <a:t>потому</a:t>
            </a:r>
            <a:r>
              <a:rPr sz="1400" dirty="0"/>
              <a:t> </a:t>
            </a:r>
            <a:r>
              <a:rPr sz="1400" dirty="0" err="1"/>
              <a:t>что</a:t>
            </a:r>
            <a:r>
              <a:rPr sz="1400" dirty="0"/>
              <a:t> </a:t>
            </a:r>
            <a:r>
              <a:rPr sz="1400" dirty="0" err="1"/>
              <a:t>алгоритм</a:t>
            </a:r>
            <a:r>
              <a:rPr sz="1400" dirty="0"/>
              <a:t> </a:t>
            </a:r>
            <a:r>
              <a:rPr sz="1400" dirty="0" err="1"/>
              <a:t>должен</a:t>
            </a:r>
            <a:r>
              <a:rPr sz="1400" dirty="0"/>
              <a:t> </a:t>
            </a:r>
            <a:r>
              <a:rPr sz="1400" dirty="0" err="1"/>
              <a:t>быть</a:t>
            </a:r>
            <a:r>
              <a:rPr sz="1400" dirty="0"/>
              <a:t> </a:t>
            </a:r>
            <a:r>
              <a:rPr sz="1400" dirty="0" err="1"/>
              <a:t>понятен</a:t>
            </a:r>
            <a:r>
              <a:rPr sz="1400" dirty="0"/>
              <a:t> </a:t>
            </a:r>
            <a:r>
              <a:rPr sz="1400" dirty="0" err="1"/>
              <a:t>человеку</a:t>
            </a:r>
            <a:r>
              <a:rPr sz="1400" dirty="0"/>
              <a:t>, а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только</a:t>
            </a:r>
            <a:r>
              <a:rPr sz="1400" dirty="0"/>
              <a:t> </a:t>
            </a:r>
            <a:r>
              <a:rPr sz="1400" dirty="0" err="1"/>
              <a:t>компилятору</a:t>
            </a:r>
            <a:r>
              <a:rPr sz="1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Файл metrics.rs отвечает на вопрос «стало ли лучше». Три линейки: PSNR </a:t>
            </a:r>
            <a:r>
              <a:rPr lang="ru-RU"/>
              <a:t>-</a:t>
            </a:r>
            <a:r>
              <a:t> средняя ошибка по пикселям; SSIM </a:t>
            </a:r>
            <a:r>
              <a:rPr lang="ru-RU"/>
              <a:t>-</a:t>
            </a:r>
            <a:r>
              <a:t> похожесть структуры от нуля до единицы; EPI </a:t>
            </a:r>
            <a:r>
              <a:rPr lang="ru-RU"/>
              <a:t>-</a:t>
            </a:r>
            <a:r>
              <a:t> целы ли границы и мелкие детали. Зачем сразу три? Одна цифра легко обманывает: усреднение 5×5 поднимает PSNR выше исходной картинки </a:t>
            </a:r>
            <a:r>
              <a:rPr lang="ru-RU"/>
              <a:t>-</a:t>
            </a:r>
            <a:r>
              <a:t> 22,3 против 21,2 децибела, как будто стало лучше, </a:t>
            </a:r>
            <a:r>
              <a:rPr lang="ru-RU"/>
              <a:t>-</a:t>
            </a:r>
            <a:r>
              <a:t> а по EPI оно уходит в минус: контуры не сохранены, а перевёрнуты. Поэтому у каждого метода в отчёте три оценки сразу: у нашего метода SSIM 0,72 против 0,58 у билатерального, EPI 0,55 против 0,50. И здесь же живёт оценка уровня шума по Иммеркеру: её место будто бы в фильтрах, но это измерение, поэтому держим рядом с метриками. Именно она даёт методу знание о шуме.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Первый файл, с которого всё начинается, </a:t>
            </a:r>
            <a:r>
              <a:rPr lang="ru-RU"/>
              <a:t>-</a:t>
            </a:r>
            <a:r>
              <a:t> img.rs. Он открывает картинки и отдаёт их остальной программе. Тут три важных момента. Первый: пиксель за границей изображения </a:t>
            </a:r>
            <a:r>
              <a:rPr lang="ru-RU"/>
              <a:t>-</a:t>
            </a:r>
            <a:r>
              <a:t> не ошибка: мы подставляем ближайший, иначе по рамке вылезает тёмная кайма, классический артефакт фильтрации. Второй: цветное фото раскладывается на три канала, и каждый фильтруется отдельно </a:t>
            </a:r>
            <a:r>
              <a:rPr lang="ru-RU"/>
              <a:t>-</a:t>
            </a:r>
            <a:r>
              <a:t> так работает цветной режим. Третий: для метрик нужно одно число на пиксель, поэтому цвет сводится к яркости по стандартной формуле Rec.709 </a:t>
            </a:r>
            <a:r>
              <a:rPr lang="ru-RU"/>
              <a:t>-</a:t>
            </a:r>
            <a:r>
              <a:t> той же, что используют телевидение и камеры.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Третий файл </a:t>
            </a:r>
            <a:r>
              <a:rPr lang="ru-RU"/>
              <a:t>-</a:t>
            </a:r>
            <a:r>
              <a:t> noise.rs. Он маленький, но принципиальный: генератор шума написан вручную. Почему не взять готовый? Две причины. Первая: воспроизводимость </a:t>
            </a:r>
            <a:r>
              <a:rPr lang="ru-RU"/>
              <a:t>-</a:t>
            </a:r>
            <a:r>
              <a:t> мы задаём зерно, и повторный запуск даёт бит в бит те же зашумлённые картинки, а значит, те же цифры в отчёте. Вторая: библиотечный генератор может изменить поведение между версиями, и тогда сравнение методов перестанет быть честным. Внутри всё просто: быстрый генератор равномерных чисел, преобразование Бокса</a:t>
            </a:r>
            <a:r>
              <a:rPr lang="ru-RU"/>
              <a:t>-</a:t>
            </a:r>
            <a:r>
              <a:t>Мюллера для нормального распределения и ограничение диапазона, чтобы яркость не убегала за ноль и двести пятьдесят пять.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Файл</a:t>
            </a:r>
            <a:r>
              <a:rPr dirty="0"/>
              <a:t> experiment.</a:t>
            </a:r>
            <a:r>
              <a:t>rs </a:t>
            </a:r>
            <a:r>
              <a:rPr lang="ru-RU"/>
              <a:t>-</a:t>
            </a:r>
            <a:r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лаборатория</a:t>
            </a:r>
            <a:r>
              <a:rPr dirty="0"/>
              <a:t>. </a:t>
            </a:r>
            <a:r>
              <a:rPr dirty="0" err="1"/>
              <a:t>Функция</a:t>
            </a:r>
            <a:r>
              <a:rPr dirty="0"/>
              <a:t> eval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, </a:t>
            </a:r>
            <a:r>
              <a:rPr dirty="0" err="1"/>
              <a:t>замеряет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и </a:t>
            </a:r>
            <a:r>
              <a:rPr dirty="0" err="1"/>
              <a:t>считает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err="1"/>
              <a:t>метрики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получается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 </a:t>
            </a:r>
            <a:r>
              <a:rPr dirty="0" err="1"/>
              <a:t>Функция</a:t>
            </a:r>
            <a:r>
              <a:rPr dirty="0"/>
              <a:t> </a:t>
            </a:r>
            <a:r>
              <a:rPr dirty="0" err="1"/>
              <a:t>run_bench</a:t>
            </a:r>
            <a:r>
              <a:rPr dirty="0"/>
              <a:t> </a:t>
            </a:r>
            <a:r>
              <a:rPr dirty="0" err="1"/>
              <a:t>проворачивает</a:t>
            </a:r>
            <a:r>
              <a:rPr dirty="0"/>
              <a:t>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прогон</a:t>
            </a:r>
            <a:r>
              <a:rPr dirty="0"/>
              <a:t>: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уровнях</a:t>
            </a:r>
            <a:r>
              <a:rPr dirty="0"/>
              <a:t> </a:t>
            </a:r>
            <a:r>
              <a:rPr dirty="0" err="1"/>
              <a:t>шума</a:t>
            </a:r>
            <a:r>
              <a:rPr dirty="0"/>
              <a:t> </a:t>
            </a:r>
            <a:r>
              <a:rPr dirty="0" err="1"/>
              <a:t>всеми</a:t>
            </a:r>
            <a:r>
              <a:rPr dirty="0"/>
              <a:t> </a:t>
            </a:r>
            <a:r>
              <a:rPr dirty="0" err="1"/>
              <a:t>методами</a:t>
            </a:r>
            <a:r>
              <a:rPr dirty="0"/>
              <a:t>, и </a:t>
            </a:r>
            <a:r>
              <a:rPr dirty="0" err="1"/>
              <a:t>складывает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 в </a:t>
            </a:r>
            <a:r>
              <a:rPr dirty="0" err="1"/>
              <a:t>таблицу</a:t>
            </a:r>
            <a:r>
              <a:rPr dirty="0"/>
              <a:t> CSV.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две</a:t>
            </a:r>
            <a:r>
              <a:rPr dirty="0"/>
              <a:t> </a:t>
            </a:r>
            <a:r>
              <a:rPr err="1"/>
              <a:t>функции</a:t>
            </a:r>
            <a:r>
              <a:t> </a:t>
            </a:r>
            <a:r>
              <a:rPr lang="ru-RU"/>
              <a:t>-</a:t>
            </a:r>
            <a:r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калибровки</a:t>
            </a:r>
            <a:r>
              <a:rPr dirty="0"/>
              <a:t>: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перебирает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параметр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сетке</a:t>
            </a:r>
            <a:r>
              <a:rPr dirty="0"/>
              <a:t> </a:t>
            </a:r>
            <a:r>
              <a:rPr dirty="0" err="1"/>
              <a:t>значений</a:t>
            </a:r>
            <a:r>
              <a:rPr dirty="0"/>
              <a:t>, </a:t>
            </a:r>
            <a:r>
              <a:rPr dirty="0" err="1"/>
              <a:t>другая</a:t>
            </a:r>
            <a:r>
              <a:rPr dirty="0"/>
              <a:t> </a:t>
            </a:r>
            <a:r>
              <a:rPr dirty="0" err="1"/>
              <a:t>сравнивает</a:t>
            </a:r>
            <a:r>
              <a:rPr dirty="0"/>
              <a:t> </a:t>
            </a:r>
            <a:r>
              <a:rPr dirty="0" err="1"/>
              <a:t>целые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метода</a:t>
            </a:r>
            <a:r>
              <a:rPr dirty="0"/>
              <a:t> и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разбивку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картинкам</a:t>
            </a:r>
            <a:r>
              <a:rPr dirty="0"/>
              <a:t>. </a:t>
            </a:r>
            <a:r>
              <a:rPr dirty="0" err="1"/>
              <a:t>Важно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в </a:t>
            </a:r>
            <a:r>
              <a:rPr dirty="0" err="1"/>
              <a:t>отчёте</a:t>
            </a:r>
            <a:r>
              <a:rPr dirty="0"/>
              <a:t> и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графиках</a:t>
            </a:r>
            <a:r>
              <a:rPr dirty="0"/>
              <a:t> </a:t>
            </a:r>
            <a:r>
              <a:rPr dirty="0" err="1"/>
              <a:t>выросли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отсюда</a:t>
            </a:r>
            <a:r>
              <a:rPr dirty="0"/>
              <a:t>: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писали</a:t>
            </a:r>
            <a:r>
              <a:rPr dirty="0"/>
              <a:t> </a:t>
            </a:r>
            <a:r>
              <a:rPr dirty="0" err="1"/>
              <a:t>руками</a:t>
            </a:r>
            <a:r>
              <a:rPr dirty="0"/>
              <a:t>, а </a:t>
            </a:r>
            <a:r>
              <a:rPr dirty="0" err="1"/>
              <a:t>брали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Шестой файл </a:t>
            </a:r>
            <a:r>
              <a:rPr lang="ru-RU"/>
              <a:t>-</a:t>
            </a:r>
            <a:r>
              <a:t> main.rs </a:t>
            </a:r>
            <a:r>
              <a:rPr lang="ru-RU"/>
              <a:t>-</a:t>
            </a:r>
            <a:r>
              <a:t> это лицо программы. Он разбирает команду, которую набрал пользователь, и решает, что запускать. Команд несколько: denoise фильтрует одну картинку выбранным методом; bench ставит полный эксперимент и выдаёт таблицу метрик; sweep, tune и sens нужны для калибровки и проверки устойчивости; а demo </a:t>
            </a:r>
            <a:r>
              <a:rPr lang="ru-RU"/>
              <a:t>-</a:t>
            </a:r>
            <a:r>
              <a:t> самая дружелюбная: прогоняет все методы по вашим собственным фотографиям, включая цветной режим. Именно этим файлом заканчивается путь от идеи до готовой программы: шесть модулей соединяются в одно слово в командной строке.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решения, за которые мы теперь держимся. Первое: структуру измеряем разбросом яркостей, а не градиентом. Казалось бы, градиент </a:t>
            </a:r>
            <a:r>
              <a:rPr lang="ru-RU"/>
              <a:t>-</a:t>
            </a:r>
            <a:r>
              <a:t> очевидный способ найти контур, но у шума градиент тоже большой, и фильтр принимает зерно за детали. Второе: из разброса обязательно вычитается разброс шума </a:t>
            </a:r>
            <a:r>
              <a:rPr lang="ru-RU"/>
              <a:t>-</a:t>
            </a:r>
            <a:r>
              <a:t> иначе в гладкой области карта структуры не ноль, и фильтр сглаживает робко, оставляя зерно. И третье: края обрабатываются продлением. Когда мы впервые запустили самый первый вариант фильтра, по краю картинки вылезла тёмная рамка </a:t>
            </a:r>
            <a:r>
              <a:rPr lang="ru-RU"/>
              <a:t>-</a:t>
            </a:r>
            <a:r>
              <a:t> вот откуда взялась эта строчка с clamp. Мелочи, но именно из них складывается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 честность </a:t>
            </a:r>
            <a:r>
              <a:rPr lang="ru-RU"/>
              <a:t>-</a:t>
            </a:r>
            <a:r>
              <a:t> это место, где легко обмануться по невнимательности. Все методы сравниваются одной программой на одном зашумлённом наборе, зерно фиксировано: повторный запуск даёт те же цифры. Параметры подобраны на двух уровнях шума, а проверены на двух других, которые в подборе не участвовали, </a:t>
            </a:r>
            <a:r>
              <a:rPr lang="ru-RU"/>
              <a:t>-</a:t>
            </a:r>
            <a:r>
              <a:t> так видно, что подгонки нет. На логику девять автотестов: скажем, шум в гладкой области обязан упасть минимум в пять раз. Запускаются они одной командой; конфигурация для автоматического прогона на GitHub уже лежит в репозитории </a:t>
            </a:r>
            <a:r>
              <a:rPr lang="ru-RU"/>
              <a:t>-</a:t>
            </a:r>
            <a:r>
              <a:t> включится, как только проект там появится.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Теперь цифры. Средний PSNR нашего метода </a:t>
            </a:r>
            <a:r>
              <a:rPr lang="ru-RU"/>
              <a:t>-</a:t>
            </a:r>
            <a:r>
              <a:t> двадцать шесть и одна десятая децибела, билатеральный с универсальной настройкой </a:t>
            </a:r>
            <a:r>
              <a:rPr lang="ru-RU"/>
              <a:t>-</a:t>
            </a:r>
            <a:r>
              <a:t> двадцать четыре и две, гауссов </a:t>
            </a:r>
            <a:r>
              <a:rPr lang="ru-RU"/>
              <a:t>-</a:t>
            </a:r>
            <a:r>
              <a:t> двадцать три. Выигрыш над лучшим классическим методом </a:t>
            </a:r>
            <a:r>
              <a:rPr lang="ru-RU"/>
              <a:t>-</a:t>
            </a:r>
            <a:r>
              <a:t> около двух децибел, а над гауссовым </a:t>
            </a:r>
            <a:r>
              <a:rPr lang="ru-RU"/>
              <a:t>-</a:t>
            </a:r>
            <a:r>
              <a:t> три. И это не только по PSNR: по SSIM ноль семьдесят два против ноль пятьдесят восемь, по EPI ноль пятьдесят пять против ноль пятьдесят </a:t>
            </a:r>
            <a:r>
              <a:rPr lang="ru-RU"/>
              <a:t>-</a:t>
            </a:r>
            <a:r>
              <a:t> порядок одинаковый по всем трём линейкам. Обратите внимание на верхний столбик: это тот самый билатеральный фильтр, которому для каждой картинки вручную подбирали σr, </a:t>
            </a:r>
            <a:r>
              <a:rPr lang="ru-RU"/>
              <a:t>-</a:t>
            </a:r>
            <a:r>
              <a:t> нечестная фора, верхняя граница классики. Наш столбик почти вплотную к 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Отдельная проверка </a:t>
            </a:r>
            <a:r>
              <a:rPr lang="ru-RU"/>
              <a:t>-</a:t>
            </a:r>
            <a:r>
              <a:t> самая сложная текстура из всех: мех бабуина. Гауссов фильтр превращает шерсть в однородное пятно: шум ушёл, но и текстуры больше нет. Билатеральный местами оставляет шум, потому что боится трогать границы. Наш метод давит зерно в гладких участках и сохраняет и ворсинки, и контур глаза. PSNR вырос с двадцати двух и двух десятых до двадцати четырёх и одной.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Теперь честно о минусах. Первый: скорость. Метод в одиннадцать раз медленнее гауссова фильтра </a:t>
            </a:r>
            <a:r>
              <a:rPr lang="ru-RU"/>
              <a:t>-</a:t>
            </a:r>
            <a:r>
              <a:t> сто семьдесят девять миллисекунд на кадр. Для учебного проекта это нормально, но ускорить можно в разы, и мы знаем как. Второй: метод рассчитан на обычный шум, а для импульсной «соли и перца» лучше подходит медианный фильтр </a:t>
            </a:r>
            <a:r>
              <a:rPr lang="ru-RU"/>
              <a:t>-</a:t>
            </a:r>
            <a:r>
              <a:t> это разные задачи. И третье, что скорее достоинство: параметры подобраны один раз и больше не меняются, а на проверочных уровнях шума метод остался лучшим.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Проект можно потрогать руками. Команда demo прогоняет все методы по вашим фотографиям: складываете картинки в папку, запускаете </a:t>
            </a:r>
            <a:r>
              <a:rPr lang="ru-RU"/>
              <a:t>-</a:t>
            </a:r>
            <a:r>
              <a:t> получаете результат каждого фильтра и таблицу сравнения. Флаг rgb включает цветной режим. Если командная строка не нравится, есть скрипт-кнопка: двойной клик </a:t>
            </a:r>
            <a:r>
              <a:rPr lang="ru-RU"/>
              <a:t>-</a:t>
            </a:r>
            <a:r>
              <a:t> программа сама собирается и обрабатывает всё, что лежит в папке. И cargo test </a:t>
            </a:r>
            <a:r>
              <a:rPr lang="ru-RU"/>
              <a:t>-</a:t>
            </a:r>
            <a:r>
              <a:t> девять проверок, которые запускаются одной командой. Всё это лежит в открытом репозитории вместе с отчётом и этой презентацией.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Что мы </a:t>
            </a:r>
            <a:r>
              <a:rPr dirty="0" err="1"/>
              <a:t>сделали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в </a:t>
            </a:r>
            <a:r>
              <a:rPr dirty="0" err="1"/>
              <a:t>следующей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. </a:t>
            </a:r>
            <a:r>
              <a:rPr dirty="0" err="1"/>
              <a:t>Первое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ускорение</a:t>
            </a:r>
            <a:r>
              <a:rPr dirty="0"/>
              <a:t>: </a:t>
            </a:r>
            <a:r>
              <a:rPr dirty="0" err="1"/>
              <a:t>интегральные</a:t>
            </a:r>
            <a:r>
              <a:rPr dirty="0"/>
              <a:t> изображения </a:t>
            </a:r>
            <a:r>
              <a:rPr dirty="0" err="1"/>
              <a:t>сокращают</a:t>
            </a:r>
            <a:r>
              <a:rPr dirty="0"/>
              <a:t> </a:t>
            </a:r>
            <a:r>
              <a:rPr dirty="0" err="1"/>
              <a:t>расчёт</a:t>
            </a:r>
            <a:r>
              <a:rPr dirty="0"/>
              <a:t> разброса с </a:t>
            </a:r>
            <a:r>
              <a:rPr dirty="0" err="1"/>
              <a:t>двадцати</a:t>
            </a:r>
            <a:r>
              <a:rPr dirty="0"/>
              <a:t> </a:t>
            </a:r>
            <a:r>
              <a:rPr dirty="0" err="1"/>
              <a:t>пяти</a:t>
            </a:r>
            <a:r>
              <a:rPr dirty="0"/>
              <a:t> </a:t>
            </a:r>
            <a:r>
              <a:rPr dirty="0" err="1"/>
              <a:t>операций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четырёх</a:t>
            </a:r>
            <a:r>
              <a:rPr dirty="0"/>
              <a:t>, </a:t>
            </a:r>
            <a:r>
              <a:rPr dirty="0" err="1"/>
              <a:t>цель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тридцать </a:t>
            </a:r>
            <a:r>
              <a:rPr dirty="0" err="1"/>
              <a:t>миллисекунд</a:t>
            </a:r>
            <a:r>
              <a:rPr dirty="0"/>
              <a:t> вместо </a:t>
            </a:r>
            <a:r>
              <a:rPr dirty="0" err="1"/>
              <a:t>ста</a:t>
            </a:r>
            <a:r>
              <a:rPr dirty="0"/>
              <a:t> </a:t>
            </a:r>
            <a:r>
              <a:rPr dirty="0" err="1"/>
              <a:t>семидесяти</a:t>
            </a:r>
            <a:r>
              <a:rPr dirty="0"/>
              <a:t> </a:t>
            </a:r>
            <a:r>
              <a:rPr dirty="0" err="1"/>
              <a:t>девяти</a:t>
            </a:r>
            <a:r>
              <a:rPr dirty="0"/>
              <a:t>. </a:t>
            </a:r>
            <a:r>
              <a:rPr dirty="0" err="1"/>
              <a:t>Второе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цвет</a:t>
            </a:r>
            <a:r>
              <a:rPr dirty="0"/>
              <a:t> по-</a:t>
            </a:r>
            <a:r>
              <a:rPr dirty="0" err="1"/>
              <a:t>настоящему</a:t>
            </a:r>
            <a:r>
              <a:rPr dirty="0"/>
              <a:t>: </a:t>
            </a:r>
            <a:r>
              <a:rPr dirty="0" err="1"/>
              <a:t>строить</a:t>
            </a:r>
            <a:r>
              <a:rPr dirty="0"/>
              <a:t> карту структуры по </a:t>
            </a:r>
            <a:r>
              <a:rPr dirty="0" err="1"/>
              <a:t>яркости</a:t>
            </a:r>
            <a:r>
              <a:rPr dirty="0"/>
              <a:t>, а не </a:t>
            </a:r>
            <a:r>
              <a:rPr dirty="0" err="1"/>
              <a:t>гонять</a:t>
            </a:r>
            <a:r>
              <a:rPr dirty="0"/>
              <a:t> три </a:t>
            </a:r>
            <a:r>
              <a:rPr dirty="0" err="1"/>
              <a:t>канала</a:t>
            </a:r>
            <a:r>
              <a:rPr dirty="0"/>
              <a:t> как три </a:t>
            </a:r>
            <a:r>
              <a:rPr dirty="0" err="1"/>
              <a:t>серые</a:t>
            </a:r>
            <a:r>
              <a:rPr dirty="0"/>
              <a:t> </a:t>
            </a:r>
            <a:r>
              <a:rPr dirty="0" err="1"/>
              <a:t>картинки</a:t>
            </a:r>
            <a:r>
              <a:rPr dirty="0"/>
              <a:t>. </a:t>
            </a:r>
            <a:r>
              <a:rPr dirty="0" err="1"/>
              <a:t>Третье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соперники</a:t>
            </a:r>
            <a:r>
              <a:rPr dirty="0"/>
              <a:t>: </a:t>
            </a:r>
            <a:r>
              <a:rPr dirty="0" err="1"/>
              <a:t>анизотропная</a:t>
            </a:r>
            <a:r>
              <a:rPr dirty="0"/>
              <a:t> </a:t>
            </a:r>
            <a:r>
              <a:rPr dirty="0" err="1"/>
              <a:t>диффузия</a:t>
            </a:r>
            <a:r>
              <a:rPr dirty="0"/>
              <a:t> и </a:t>
            </a:r>
            <a:r>
              <a:rPr dirty="0" err="1"/>
              <a:t>нелокальные</a:t>
            </a:r>
            <a:r>
              <a:rPr dirty="0"/>
              <a:t> </a:t>
            </a:r>
            <a:r>
              <a:rPr dirty="0" err="1"/>
              <a:t>средние</a:t>
            </a:r>
            <a:r>
              <a:rPr dirty="0"/>
              <a:t>, </a:t>
            </a:r>
            <a:r>
              <a:rPr dirty="0" err="1"/>
              <a:t>интересно</a:t>
            </a:r>
            <a:r>
              <a:rPr dirty="0"/>
              <a:t> с </a:t>
            </a:r>
            <a:r>
              <a:rPr dirty="0" err="1"/>
              <a:t>ними</a:t>
            </a:r>
            <a:r>
              <a:rPr dirty="0"/>
              <a:t> </a:t>
            </a:r>
            <a:r>
              <a:rPr dirty="0" err="1"/>
              <a:t>сравниться</a:t>
            </a:r>
            <a:r>
              <a:rPr dirty="0"/>
              <a:t>. </a:t>
            </a:r>
            <a:r>
              <a:rPr dirty="0" err="1"/>
              <a:t>Четвёртое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статистика</a:t>
            </a:r>
            <a:r>
              <a:rPr dirty="0"/>
              <a:t>: тридцать </a:t>
            </a:r>
            <a:r>
              <a:rPr dirty="0" err="1"/>
              <a:t>прогонов</a:t>
            </a:r>
            <a:r>
              <a:rPr dirty="0"/>
              <a:t> с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зёрнами</a:t>
            </a:r>
            <a:r>
              <a:rPr dirty="0"/>
              <a:t> и </a:t>
            </a: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значимости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«</a:t>
            </a:r>
            <a:r>
              <a:rPr dirty="0" err="1"/>
              <a:t>наш</a:t>
            </a:r>
            <a:r>
              <a:rPr dirty="0"/>
              <a:t> метод лучше» </a:t>
            </a:r>
            <a:r>
              <a:rPr dirty="0" err="1"/>
              <a:t>опиралось</a:t>
            </a:r>
            <a:r>
              <a:rPr dirty="0"/>
              <a:t> не </a:t>
            </a:r>
            <a:r>
              <a:rPr dirty="0" err="1"/>
              <a:t>только</a:t>
            </a:r>
            <a:r>
              <a:rPr dirty="0"/>
              <a:t> на </a:t>
            </a:r>
            <a:r>
              <a:rPr dirty="0" err="1"/>
              <a:t>средние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Соберу всё вместе. Задача была убрать шум и сохранить детали. Решение </a:t>
            </a:r>
            <a:r>
              <a:rPr lang="ru-RU"/>
              <a:t>-</a:t>
            </a:r>
            <a:r>
              <a:t> фильтр, который сам оценивает уровень шума, сам строит карту структуры и сам выбирает силу сглаживания в каждой точке. В коде это шесть файлов и около тысячи шестисот строк, где всё написано с нуля и объяснимо от первой строки. Результат </a:t>
            </a:r>
            <a:r>
              <a:rPr lang="ru-RU"/>
              <a:t>-</a:t>
            </a:r>
            <a:r>
              <a:t> обходит классику с фиксированными настройками и почти дотягивается до ручного подбора, а проверки такие, о которых обычно не вспоминают. Спасибо,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babo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Сглаживание изображений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657600"/>
            <a:ext cx="9235440" cy="386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900" b="0" i="0">
                <a:solidFill>
                  <a:srgbClr val="DDE5F2"/>
                </a:solidFill>
                <a:latin typeface="Calibri"/>
              </a:defRPr>
            </a:pP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стереть</a:t>
            </a:r>
            <a:r>
              <a:rPr dirty="0"/>
              <a:t> </a:t>
            </a:r>
            <a:r>
              <a:rPr dirty="0" err="1"/>
              <a:t>детали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C8D3E8"/>
                </a:solidFill>
                <a:latin typeface="Calibri"/>
              </a:defRPr>
            </a:pPr>
            <a:r>
              <a:rPr dirty="0"/>
              <a:t>1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board_nois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Шум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фотографии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463040" y="3657600"/>
            <a:ext cx="9235440" cy="386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900" b="0" i="0">
                <a:solidFill>
                  <a:srgbClr val="DDE5F2"/>
                </a:solidFill>
                <a:latin typeface="Calibri"/>
              </a:defRPr>
            </a:pPr>
            <a:r>
              <a:rPr dirty="0" err="1"/>
              <a:t>Слабое</a:t>
            </a:r>
            <a:r>
              <a:rPr dirty="0"/>
              <a:t> </a:t>
            </a:r>
            <a:r>
              <a:rPr dirty="0" err="1"/>
              <a:t>освещение</a:t>
            </a:r>
            <a:r>
              <a:rPr dirty="0"/>
              <a:t>, </a:t>
            </a:r>
            <a:r>
              <a:rPr dirty="0" err="1"/>
              <a:t>длинная</a:t>
            </a:r>
            <a:r>
              <a:rPr dirty="0"/>
              <a:t> </a:t>
            </a:r>
            <a:r>
              <a:rPr dirty="0" err="1"/>
              <a:t>выдержка</a:t>
            </a:r>
            <a:r>
              <a:rPr dirty="0"/>
              <a:t>, </a:t>
            </a:r>
            <a:r>
              <a:rPr dirty="0" err="1"/>
              <a:t>тени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и </a:t>
            </a:r>
            <a:r>
              <a:rPr dirty="0" err="1"/>
              <a:t>пиксели</a:t>
            </a:r>
            <a:r>
              <a:rPr dirty="0"/>
              <a:t> </a:t>
            </a:r>
            <a:r>
              <a:rPr dirty="0" err="1"/>
              <a:t>начинают</a:t>
            </a:r>
            <a:r>
              <a:rPr dirty="0"/>
              <a:t> «</a:t>
            </a:r>
            <a:r>
              <a:rPr dirty="0" err="1"/>
              <a:t>дрожать</a:t>
            </a:r>
            <a:r>
              <a:rPr dirty="0"/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C8D3E8"/>
                </a:solidFill>
                <a:latin typeface="Calibri"/>
              </a:defRPr>
            </a:pPr>
            <a:r>
              <a:rPr dirty="0"/>
              <a:t>2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rPr dirty="0" err="1"/>
              <a:t>Самый</a:t>
            </a:r>
            <a:r>
              <a:rPr dirty="0"/>
              <a:t> </a:t>
            </a:r>
            <a:r>
              <a:rPr dirty="0" err="1"/>
              <a:t>очевидный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усреднить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t>Шума нет. Но и платы почти нет: дорожки и подписи растворились</a:t>
            </a:r>
          </a:p>
        </p:txBody>
      </p:sp>
      <p:pic>
        <p:nvPicPr>
          <p:cNvPr id="4" name="Picture 3" descr="crop_board_nois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" y="1857375"/>
            <a:ext cx="534924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867" y="5998464"/>
            <a:ext cx="5349240" cy="309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шум</a:t>
            </a:r>
            <a:r>
              <a:rPr dirty="0"/>
              <a:t> σ = </a:t>
            </a:r>
            <a:r>
              <a:rPr lang="ru-RU" dirty="0"/>
              <a:t>24</a:t>
            </a:r>
            <a:endParaRPr dirty="0"/>
          </a:p>
        </p:txBody>
      </p:sp>
      <p:pic>
        <p:nvPicPr>
          <p:cNvPr id="6" name="Picture 5" descr="crop_board_gau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7" y="1857375"/>
            <a:ext cx="5349240" cy="4011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1587" y="5998464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после гауссова размытия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3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700" b="1" i="0">
                <a:solidFill>
                  <a:srgbClr val="142244"/>
                </a:solidFill>
                <a:latin typeface="Calibri"/>
              </a:defRPr>
            </a:pP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классических</a:t>
            </a:r>
            <a:r>
              <a:rPr dirty="0"/>
              <a:t> </a:t>
            </a:r>
            <a:r>
              <a:rPr dirty="0" err="1"/>
              <a:t>метода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и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минус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Ни один не разбирает, где шум, а где деталь</a:t>
            </a:r>
          </a:p>
        </p:txBody>
      </p:sp>
      <p:pic>
        <p:nvPicPr>
          <p:cNvPr id="4" name="Picture 3" descr="crop_board_box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287" y="1691640"/>
            <a:ext cx="2621279" cy="19659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6607" y="367588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среднее 5×5 · 22 дБ</a:t>
            </a:r>
          </a:p>
        </p:txBody>
      </p:sp>
      <p:pic>
        <p:nvPicPr>
          <p:cNvPr id="6" name="Picture 5" descr="crop_board_gau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127" y="1691640"/>
            <a:ext cx="2621279" cy="19659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367588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гауссов · 23 дБ</a:t>
            </a:r>
          </a:p>
        </p:txBody>
      </p:sp>
      <p:pic>
        <p:nvPicPr>
          <p:cNvPr id="8" name="Picture 7" descr="crop_board_median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6287" y="4224528"/>
            <a:ext cx="2621279" cy="1965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607" y="6208775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медианный · 22 дБ</a:t>
            </a:r>
          </a:p>
        </p:txBody>
      </p:sp>
      <p:pic>
        <p:nvPicPr>
          <p:cNvPr id="10" name="Picture 9" descr="crop_board_bilater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127" y="4224528"/>
            <a:ext cx="2621279" cy="19659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447" y="6208775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билатеральный · 24 дБ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4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rPr lang="ru-RU" dirty="0"/>
              <a:t>Один </a:t>
            </a:r>
            <a:r>
              <a:rPr dirty="0" err="1"/>
              <a:t>параметр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картинку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060704"/>
            <a:ext cx="10332720" cy="551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Малый</a:t>
            </a:r>
            <a:r>
              <a:rPr dirty="0"/>
              <a:t> </a:t>
            </a:r>
            <a:r>
              <a:rPr dirty="0" err="1"/>
              <a:t>σr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, </a:t>
            </a:r>
            <a:r>
              <a:rPr dirty="0" err="1"/>
              <a:t>большой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стираются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. </a:t>
            </a:r>
            <a:r>
              <a:rPr dirty="0" err="1"/>
              <a:t>Пунктир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σr</a:t>
            </a:r>
            <a:r>
              <a:rPr dirty="0"/>
              <a:t> </a:t>
            </a:r>
            <a:r>
              <a:rPr dirty="0" err="1"/>
              <a:t>подбирать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каждую</a:t>
            </a:r>
            <a:r>
              <a:rPr dirty="0"/>
              <a:t> </a:t>
            </a:r>
            <a:r>
              <a:rPr dirty="0" err="1"/>
              <a:t>картинку</a:t>
            </a:r>
            <a:r>
              <a:rPr dirty="0"/>
              <a:t> </a:t>
            </a:r>
            <a:r>
              <a:rPr dirty="0" err="1"/>
              <a:t>вручную</a:t>
            </a:r>
            <a:endParaRPr dirty="0"/>
          </a:p>
        </p:txBody>
      </p:sp>
      <p:pic>
        <p:nvPicPr>
          <p:cNvPr id="4" name="Picture 3" descr="fig_psnr_vs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13" y="1837943"/>
            <a:ext cx="8586067" cy="4608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5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t>А если у каждого пикселя будет свой σr?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60704"/>
            <a:ext cx="10332720" cy="3172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строим</a:t>
            </a:r>
            <a:r>
              <a:rPr dirty="0"/>
              <a:t> </a:t>
            </a:r>
            <a:r>
              <a:rPr dirty="0" err="1"/>
              <a:t>карту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. </a:t>
            </a:r>
            <a:r>
              <a:rPr dirty="0" err="1"/>
              <a:t>Где</a:t>
            </a:r>
            <a:r>
              <a:rPr dirty="0"/>
              <a:t> </a:t>
            </a:r>
            <a:r>
              <a:rPr lang="ru-RU" dirty="0"/>
              <a:t>сложная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lang="ru-RU" dirty="0"/>
              <a:t>нужно </a:t>
            </a:r>
            <a:r>
              <a:rPr dirty="0" err="1"/>
              <a:t>осторожнее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гладко</a:t>
            </a:r>
            <a:r>
              <a:rPr lang="ru-RU" dirty="0"/>
              <a:t>, можно смелее</a:t>
            </a:r>
            <a:endParaRPr dirty="0"/>
          </a:p>
        </p:txBody>
      </p:sp>
      <p:pic>
        <p:nvPicPr>
          <p:cNvPr id="4" name="Picture 3" descr="fig_activity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2268233"/>
            <a:ext cx="10058400" cy="3747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6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26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Метод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формулы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68680" y="1554480"/>
            <a:ext cx="566928" cy="566928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pic>
        <p:nvPicPr>
          <p:cNvPr id="5" name="Picture 4" descr="formul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464" y="1554480"/>
            <a:ext cx="2791550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167128"/>
            <a:ext cx="969264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AEC0DC"/>
                </a:solidFill>
                <a:latin typeface="Calibri"/>
              </a:defRPr>
            </a:pP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</a:t>
            </a:r>
            <a:r>
              <a:rPr dirty="0" err="1"/>
              <a:t>шума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самой</a:t>
            </a:r>
            <a:r>
              <a:rPr dirty="0"/>
              <a:t> </a:t>
            </a:r>
            <a:r>
              <a:rPr dirty="0" err="1"/>
              <a:t>картинке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эталон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нужен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868680" y="3127248"/>
            <a:ext cx="566928" cy="566928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pic>
        <p:nvPicPr>
          <p:cNvPr id="8" name="Picture 7" descr="formula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033" y="3127248"/>
            <a:ext cx="4680412" cy="6035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3739896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AEC0DC"/>
                </a:solidFill>
                <a:latin typeface="Calibri"/>
              </a:defRPr>
            </a:pPr>
            <a:r>
              <a:t>карта структуры: из разброса яркостей вычитаем разброс шума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700016"/>
            <a:ext cx="566928" cy="566928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pic>
        <p:nvPicPr>
          <p:cNvPr id="11" name="Picture 10" descr="formula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427" y="4700016"/>
            <a:ext cx="8063624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5312664"/>
            <a:ext cx="969264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AEC0DC"/>
                </a:solidFill>
                <a:latin typeface="Calibri"/>
              </a:defRPr>
            </a:pPr>
            <a:r>
              <a:rPr dirty="0" err="1"/>
              <a:t>своя</a:t>
            </a:r>
            <a:r>
              <a:rPr dirty="0"/>
              <a:t> </a:t>
            </a:r>
            <a:r>
              <a:rPr dirty="0" err="1"/>
              <a:t>сила</a:t>
            </a:r>
            <a:r>
              <a:rPr dirty="0"/>
              <a:t> </a:t>
            </a:r>
            <a:r>
              <a:rPr dirty="0" err="1"/>
              <a:t>сглаживания</a:t>
            </a:r>
            <a:r>
              <a:rPr dirty="0"/>
              <a:t> в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точке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плавный</a:t>
            </a:r>
            <a:r>
              <a:rPr dirty="0"/>
              <a:t>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двумя</a:t>
            </a:r>
            <a:r>
              <a:rPr dirty="0"/>
              <a:t> </a:t>
            </a:r>
            <a:r>
              <a:rPr dirty="0" err="1"/>
              <a:t>режимами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C8D3E8"/>
                </a:solidFill>
                <a:latin typeface="Calibri"/>
              </a:defRPr>
            </a:pPr>
            <a:r>
              <a:rPr dirty="0"/>
              <a:t>7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t>Вот что получается на выходе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32720" cy="3172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Плоские</a:t>
            </a:r>
            <a:r>
              <a:rPr dirty="0"/>
              <a:t> </a:t>
            </a:r>
            <a:r>
              <a:rPr dirty="0" err="1"/>
              <a:t>участки</a:t>
            </a:r>
            <a:r>
              <a:rPr dirty="0"/>
              <a:t> </a:t>
            </a:r>
            <a:r>
              <a:rPr dirty="0" err="1"/>
              <a:t>очищены</a:t>
            </a:r>
            <a:r>
              <a:rPr dirty="0"/>
              <a:t>, </a:t>
            </a:r>
            <a:r>
              <a:rPr dirty="0" err="1"/>
              <a:t>дорожки</a:t>
            </a:r>
            <a:r>
              <a:rPr dirty="0"/>
              <a:t> и </a:t>
            </a:r>
            <a:r>
              <a:rPr dirty="0" err="1"/>
              <a:t>подписи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месте</a:t>
            </a:r>
            <a:r>
              <a:rPr dirty="0"/>
              <a:t>.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и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картинок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pic>
        <p:nvPicPr>
          <p:cNvPr id="4" name="Picture 3" descr="crop_board_nois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" y="1857375"/>
            <a:ext cx="534924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867" y="5998464"/>
            <a:ext cx="5349240" cy="309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шум</a:t>
            </a:r>
            <a:r>
              <a:rPr dirty="0"/>
              <a:t> σ = </a:t>
            </a:r>
            <a:r>
              <a:rPr lang="ru-RU" dirty="0"/>
              <a:t>24</a:t>
            </a:r>
            <a:endParaRPr dirty="0"/>
          </a:p>
        </p:txBody>
      </p:sp>
      <p:pic>
        <p:nvPicPr>
          <p:cNvPr id="6" name="Picture 5" descr="crop_board_acs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7" y="1857375"/>
            <a:ext cx="5349240" cy="4011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1587" y="5998464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наш метод (АКСФ)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8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t>Теперь про код: как устроена программа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2579" y="1600200"/>
            <a:ext cx="352044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l">
              <a:defRPr sz="1600" b="1">
                <a:solidFill>
                  <a:srgbClr val="142244"/>
                </a:solidFill>
              </a:defRPr>
            </a:pPr>
            <a:r>
              <a:t>img.rs</a:t>
            </a:r>
          </a:p>
          <a:p>
            <a:pPr algn="l">
              <a:defRPr sz="1250">
                <a:solidFill>
                  <a:srgbClr val="4A4A4A"/>
                </a:solidFill>
              </a:defRPr>
            </a:pPr>
            <a:r>
              <a:t>читает и сохраняет картинки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5627" y="1600200"/>
            <a:ext cx="352044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l">
              <a:defRPr sz="1600" b="1">
                <a:solidFill>
                  <a:srgbClr val="142244"/>
                </a:solidFill>
              </a:defRPr>
            </a:pPr>
            <a:r>
              <a:rPr dirty="0"/>
              <a:t>noise.rs</a:t>
            </a:r>
          </a:p>
          <a:p>
            <a:pPr algn="l">
              <a:defRPr sz="1250">
                <a:solidFill>
                  <a:srgbClr val="4A4A4A"/>
                </a:solidFill>
              </a:defRPr>
            </a:pPr>
            <a:r>
              <a:rPr dirty="0" err="1"/>
              <a:t>подмешивает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, </a:t>
            </a:r>
            <a:r>
              <a:rPr dirty="0" err="1"/>
              <a:t>воспроизводимый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148675" y="1600200"/>
            <a:ext cx="352044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l">
              <a:defRPr sz="1600" b="1">
                <a:solidFill>
                  <a:srgbClr val="142244"/>
                </a:solidFill>
              </a:defRPr>
            </a:pPr>
            <a:r>
              <a:t>filters.rs</a:t>
            </a:r>
          </a:p>
          <a:p>
            <a:pPr algn="l">
              <a:defRPr sz="1250">
                <a:solidFill>
                  <a:srgbClr val="4A4A4A"/>
                </a:solidFill>
              </a:defRPr>
            </a:pPr>
            <a:r>
              <a:t>все фильтры и наш метод: ядро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579" y="3246120"/>
            <a:ext cx="352044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l">
              <a:defRPr sz="1600" b="1">
                <a:solidFill>
                  <a:srgbClr val="142244"/>
                </a:solidFill>
              </a:defRPr>
            </a:pPr>
            <a:r>
              <a:t>metrics.rs</a:t>
            </a:r>
          </a:p>
          <a:p>
            <a:pPr algn="l">
              <a:defRPr sz="1250">
                <a:solidFill>
                  <a:srgbClr val="4A4A4A"/>
                </a:solidFill>
              </a:defRPr>
            </a:pPr>
            <a:r>
              <a:t>считает, стало ли лучше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5627" y="3246120"/>
            <a:ext cx="352044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l">
              <a:defRPr sz="1600" b="1">
                <a:solidFill>
                  <a:srgbClr val="142244"/>
                </a:solidFill>
              </a:defRPr>
            </a:pPr>
            <a:r>
              <a:t>experiment.rs</a:t>
            </a:r>
          </a:p>
          <a:p>
            <a:pPr algn="l">
              <a:defRPr sz="1250">
                <a:solidFill>
                  <a:srgbClr val="4A4A4A"/>
                </a:solidFill>
              </a:defRPr>
            </a:pPr>
            <a:r>
              <a:t>ставит эксперименты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8675" y="3246120"/>
            <a:ext cx="352044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l">
              <a:defRPr sz="1600" b="1">
                <a:solidFill>
                  <a:srgbClr val="142244"/>
                </a:solidFill>
              </a:defRPr>
            </a:pPr>
            <a:r>
              <a:t>main.rs</a:t>
            </a:r>
          </a:p>
          <a:p>
            <a:pPr algn="l">
              <a:defRPr sz="1250">
                <a:solidFill>
                  <a:srgbClr val="4A4A4A"/>
                </a:solidFill>
              </a:defRPr>
            </a:pPr>
            <a:r>
              <a:t>принимает команды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3172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1" i="0">
                <a:solidFill>
                  <a:srgbClr val="D62728"/>
                </a:solidFill>
                <a:latin typeface="Calibri"/>
              </a:defRPr>
            </a:pPr>
            <a:r>
              <a:rPr dirty="0"/>
              <a:t>≈1600 </a:t>
            </a:r>
            <a:r>
              <a:rPr dirty="0" err="1"/>
              <a:t>строк</a:t>
            </a:r>
            <a:r>
              <a:rPr dirty="0"/>
              <a:t> Rust</a:t>
            </a:r>
            <a:r>
              <a:rPr lang="ru-RU" dirty="0"/>
              <a:t> +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внешняя</a:t>
            </a:r>
            <a:r>
              <a:rPr dirty="0"/>
              <a:t> </a:t>
            </a:r>
            <a:r>
              <a:rPr dirty="0" err="1"/>
              <a:t>библиотека</a:t>
            </a:r>
            <a:r>
              <a:rPr dirty="0"/>
              <a:t> </a:t>
            </a:r>
            <a:r>
              <a:rPr lang="ru-RU" dirty="0"/>
              <a:t>(для </a:t>
            </a:r>
            <a:r>
              <a:rPr dirty="0" err="1"/>
              <a:t>чтени</a:t>
            </a:r>
            <a:r>
              <a:rPr lang="ru-RU" dirty="0"/>
              <a:t>я</a:t>
            </a:r>
            <a:r>
              <a:rPr dirty="0"/>
              <a:t> </a:t>
            </a:r>
            <a:r>
              <a:rPr lang="ru-RU" dirty="0"/>
              <a:t>картинок</a:t>
            </a:r>
            <a:r>
              <a:rPr dirty="0"/>
              <a:t>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9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42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filters.rs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сердце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spatial_table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1618488"/>
            <a:ext cx="6217920" cy="519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считает</a:t>
            </a:r>
            <a:r>
              <a:rPr dirty="0"/>
              <a:t> </a:t>
            </a:r>
            <a:r>
              <a:rPr dirty="0" err="1"/>
              <a:t>гауссовы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.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изображение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экспонента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в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окне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231343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box / gaussian / median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33172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три классических фильтра для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26664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bilateral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072384"/>
            <a:ext cx="6217920" cy="3016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вес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расстоянию</a:t>
            </a:r>
            <a:r>
              <a:rPr dirty="0"/>
              <a:t> </a:t>
            </a:r>
            <a:r>
              <a:rPr dirty="0" err="1"/>
              <a:t>умножается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вес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разнице</a:t>
            </a:r>
            <a:r>
              <a:rPr dirty="0"/>
              <a:t> </a:t>
            </a:r>
            <a:r>
              <a:rPr dirty="0" err="1"/>
              <a:t>яркостей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3739896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structural_activity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758184"/>
            <a:ext cx="6217920" cy="519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: </a:t>
            </a:r>
            <a:r>
              <a:rPr dirty="0" err="1"/>
              <a:t>считает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пиксель</a:t>
            </a:r>
            <a:r>
              <a:rPr dirty="0"/>
              <a:t> </a:t>
            </a:r>
            <a:r>
              <a:rPr dirty="0" err="1"/>
              <a:t>выделяется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местном</a:t>
            </a:r>
            <a:r>
              <a:rPr dirty="0"/>
              <a:t> </a:t>
            </a:r>
            <a:r>
              <a:rPr dirty="0" err="1"/>
              <a:t>фоне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там</a:t>
            </a:r>
            <a:r>
              <a:rPr dirty="0"/>
              <a:t> </a:t>
            </a:r>
            <a:r>
              <a:rPr dirty="0" err="1"/>
              <a:t>деталь</a:t>
            </a:r>
            <a:r>
              <a:rPr dirty="0"/>
              <a:t>, а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шум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4453128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acsf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4498848"/>
            <a:ext cx="6217920" cy="3016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lang="ru-RU" dirty="0"/>
              <a:t>наш метод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activity_to_image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5184648"/>
            <a:ext cx="6217920" cy="3016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карту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картинкой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наглядности</a:t>
            </a:r>
            <a:r>
              <a:rPr dirty="0"/>
              <a:t> и </a:t>
            </a:r>
            <a:r>
              <a:rPr dirty="0" err="1"/>
              <a:t>слайдов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10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6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устроен</a:t>
            </a:r>
            <a:r>
              <a:rPr dirty="0"/>
              <a:t> </a:t>
            </a:r>
            <a:r>
              <a:rPr dirty="0" err="1"/>
              <a:t>acsf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построчно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786384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t>// Шаг 1. Узнаём, насколько шумная картинка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594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let sigma_n = estimate_noise_sigma(noisy);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5164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t>// Шаг 2. Карта структуры: где контуры, а где гладко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9776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let activity = structural_activity(noisy, r, sigma_n);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438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t>// Шаг 3. Проходим по пикселям: у каждого своя sigma_r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5361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for (x, y) in pixels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78224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   let a  = activity[x][y];          // структурность в этой точке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02836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rPr dirty="0"/>
              <a:t>    let </a:t>
            </a:r>
            <a:r>
              <a:rPr dirty="0" err="1"/>
              <a:t>sr</a:t>
            </a:r>
            <a:r>
              <a:rPr dirty="0"/>
              <a:t> = </a:t>
            </a:r>
            <a:r>
              <a:rPr dirty="0" err="1"/>
              <a:t>sigma_n</a:t>
            </a:r>
            <a:r>
              <a:rPr dirty="0"/>
              <a:t> * (</a:t>
            </a:r>
            <a:r>
              <a:rPr dirty="0" err="1"/>
              <a:t>k_min</a:t>
            </a:r>
            <a:r>
              <a:rPr dirty="0"/>
              <a:t> + (</a:t>
            </a:r>
            <a:r>
              <a:rPr dirty="0" err="1"/>
              <a:t>k_max</a:t>
            </a:r>
            <a:r>
              <a:rPr dirty="0"/>
              <a:t> - </a:t>
            </a:r>
            <a:r>
              <a:rPr dirty="0" err="1"/>
              <a:t>k_min</a:t>
            </a:r>
            <a:r>
              <a:rPr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2744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rPr dirty="0"/>
              <a:t>             * (-(a / (c * </a:t>
            </a:r>
            <a:r>
              <a:rPr dirty="0" err="1"/>
              <a:t>sigma_n</a:t>
            </a:r>
            <a:r>
              <a:rPr dirty="0"/>
              <a:t>)).</a:t>
            </a:r>
            <a:r>
              <a:rPr dirty="0" err="1"/>
              <a:t>powi</a:t>
            </a:r>
            <a:r>
              <a:rPr dirty="0"/>
              <a:t>(2)).exp());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5206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rPr dirty="0"/>
              <a:t>    out[x][y] = </a:t>
            </a:r>
            <a:r>
              <a:rPr dirty="0" err="1"/>
              <a:t>weighted_mean</a:t>
            </a:r>
            <a:r>
              <a:rPr dirty="0"/>
              <a:t>(noisy, x, y, </a:t>
            </a:r>
            <a:r>
              <a:rPr dirty="0" err="1"/>
              <a:t>sr</a:t>
            </a:r>
            <a:r>
              <a:rPr dirty="0"/>
              <a:t>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667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160020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18488"/>
            <a:ext cx="2468880" cy="50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шума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картинке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эталона</a:t>
            </a:r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8732520" y="306324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081528"/>
            <a:ext cx="2468880" cy="50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вычитаем</a:t>
            </a:r>
            <a:r>
              <a:rPr dirty="0"/>
              <a:t> </a:t>
            </a:r>
            <a:r>
              <a:rPr dirty="0" err="1"/>
              <a:t>вклад</a:t>
            </a:r>
            <a:r>
              <a:rPr dirty="0"/>
              <a:t> </a:t>
            </a:r>
            <a:r>
              <a:rPr dirty="0" err="1"/>
              <a:t>шума</a:t>
            </a:r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8732520" y="452628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544568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итог: взвешенное среднее, но сила весов у каждого пикселя своя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11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542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metrics.rs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считают</a:t>
            </a:r>
            <a:r>
              <a:rPr dirty="0"/>
              <a:t>, </a:t>
            </a:r>
            <a:r>
              <a:rPr dirty="0" err="1"/>
              <a:t>стало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лучше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57987" y="1737360"/>
            <a:ext cx="3611880" cy="292608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7987" y="20574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3400" b="1" i="0">
                <a:solidFill>
                  <a:srgbClr val="D62728"/>
                </a:solidFill>
                <a:latin typeface="Calibri"/>
              </a:defRPr>
            </a:pPr>
            <a:r>
              <a:rPr dirty="0"/>
              <a:t>PSNR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867" y="288036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средняя ошибка по пикселям, в дБ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867" y="3794760"/>
            <a:ext cx="3246120" cy="309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1" i="0">
                <a:solidFill>
                  <a:srgbClr val="D62728"/>
                </a:solidFill>
                <a:latin typeface="Calibri"/>
              </a:defRPr>
            </a:pPr>
            <a:r>
              <a:rPr dirty="0" err="1"/>
              <a:t>больше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лучше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89907" y="1737360"/>
            <a:ext cx="3611880" cy="292608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89907" y="20574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3400" b="1" i="0">
                <a:solidFill>
                  <a:srgbClr val="142244"/>
                </a:solidFill>
                <a:latin typeface="Calibri"/>
              </a:defRPr>
            </a:pPr>
            <a:r>
              <a:t>SSIM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2787" y="288036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похожесть структуры, 0…1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2787" y="3794760"/>
            <a:ext cx="3246120" cy="309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1" i="0">
                <a:solidFill>
                  <a:srgbClr val="D62728"/>
                </a:solidFill>
                <a:latin typeface="Calibri"/>
              </a:defRPr>
            </a:pPr>
            <a:r>
              <a:rPr dirty="0" err="1"/>
              <a:t>ближе</a:t>
            </a:r>
            <a:r>
              <a:rPr dirty="0"/>
              <a:t> к 1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лучше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221827" y="1737360"/>
            <a:ext cx="3611880" cy="2926080"/>
          </a:xfrm>
          <a:prstGeom prst="roundRect">
            <a:avLst/>
          </a:prstGeom>
          <a:solidFill>
            <a:srgbClr val="EEF2F8"/>
          </a:solidFill>
          <a:ln>
            <a:solidFill>
              <a:srgbClr val="C3C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1827" y="20574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3400" b="1" i="0">
                <a:solidFill>
                  <a:srgbClr val="142244"/>
                </a:solidFill>
                <a:latin typeface="Calibri"/>
              </a:defRPr>
            </a:pPr>
            <a:r>
              <a:t>EPI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707" y="288036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целы ли границы и мелкие детали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707" y="3794760"/>
            <a:ext cx="3246120" cy="309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1" i="0">
                <a:solidFill>
                  <a:srgbClr val="D62728"/>
                </a:solidFill>
                <a:latin typeface="Calibri"/>
              </a:defRPr>
            </a:pPr>
            <a:r>
              <a:rPr dirty="0" err="1"/>
              <a:t>ближе</a:t>
            </a:r>
            <a:r>
              <a:rPr dirty="0"/>
              <a:t> к 1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лучше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5355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</a:t>
            </a:r>
            <a:r>
              <a:rPr dirty="0" err="1"/>
              <a:t>шума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Иммеркеру</a:t>
            </a:r>
            <a:r>
              <a:rPr dirty="0"/>
              <a:t>: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измерение</a:t>
            </a:r>
            <a:r>
              <a:rPr dirty="0"/>
              <a:t>.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 </a:t>
            </a:r>
            <a:r>
              <a:rPr dirty="0" err="1"/>
              <a:t>считаются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прогоне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средние</a:t>
            </a:r>
            <a:r>
              <a:rPr lang="ru-RU" dirty="0"/>
              <a:t> есть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с </a:t>
            </a:r>
            <a:r>
              <a:rPr dirty="0" err="1"/>
              <a:t>результатами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12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6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img.rs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картинкой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786384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7406640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край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: </a:t>
            </a:r>
            <a:r>
              <a:rPr dirty="0" err="1"/>
              <a:t>берём</a:t>
            </a:r>
            <a:r>
              <a:rPr dirty="0"/>
              <a:t> </a:t>
            </a:r>
            <a:r>
              <a:rPr dirty="0" err="1"/>
              <a:t>ближайший</a:t>
            </a:r>
            <a:r>
              <a:rPr dirty="0"/>
              <a:t> </a:t>
            </a:r>
            <a:r>
              <a:rPr dirty="0" err="1"/>
              <a:t>пиксель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80594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let xi = x.clamp(0, self.w - 1);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5164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t>// цветное фото раскладываем на три канала R, G,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9776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let (r, g, b) = load_rgb(path)?;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438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7406640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яркость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стандарту</a:t>
            </a:r>
            <a:r>
              <a:rPr dirty="0"/>
              <a:t> Rec.709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расчёта</a:t>
            </a:r>
            <a:r>
              <a:rPr dirty="0"/>
              <a:t> </a:t>
            </a:r>
            <a:r>
              <a:rPr dirty="0" err="1"/>
              <a:t>метрик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375361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0.2126*r  +  0.7152*g  +  0.0722*b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160020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618488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clamp убирает тёмную кайму по рамке картины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306324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081528"/>
            <a:ext cx="2468880" cy="7139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каналы</a:t>
            </a:r>
            <a:r>
              <a:rPr dirty="0"/>
              <a:t> </a:t>
            </a:r>
            <a:r>
              <a:rPr dirty="0" err="1"/>
              <a:t>цвета</a:t>
            </a:r>
            <a:r>
              <a:rPr dirty="0"/>
              <a:t> </a:t>
            </a:r>
            <a:r>
              <a:rPr dirty="0" err="1"/>
              <a:t>фильтруются</a:t>
            </a:r>
            <a:r>
              <a:rPr dirty="0"/>
              <a:t> </a:t>
            </a:r>
            <a:r>
              <a:rPr dirty="0" err="1"/>
              <a:t>независимо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включён</a:t>
            </a:r>
            <a:r>
              <a:rPr dirty="0"/>
              <a:t> </a:t>
            </a:r>
            <a:r>
              <a:rPr dirty="0" err="1"/>
              <a:t>цветной</a:t>
            </a:r>
            <a:r>
              <a:rPr dirty="0"/>
              <a:t> </a:t>
            </a:r>
            <a:r>
              <a:rPr dirty="0" err="1"/>
              <a:t>режим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8732520" y="452628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544568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яркость нужна, чтобы мерить качество цветных результатов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6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noise.rs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генератор</a:t>
            </a:r>
            <a:r>
              <a:rPr dirty="0"/>
              <a:t> </a:t>
            </a:r>
            <a:r>
              <a:rPr dirty="0" err="1"/>
              <a:t>шума</a:t>
            </a:r>
            <a:r>
              <a:rPr dirty="0"/>
              <a:t> </a:t>
            </a:r>
            <a:r>
              <a:rPr dirty="0" err="1"/>
              <a:t>свой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786384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7406640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rPr dirty="0"/>
              <a:t>// xorshift64*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и </a:t>
            </a:r>
            <a:r>
              <a:rPr dirty="0" err="1"/>
              <a:t>предсказуемый</a:t>
            </a:r>
            <a:r>
              <a:rPr dirty="0"/>
              <a:t> </a:t>
            </a:r>
            <a:r>
              <a:rPr dirty="0" err="1"/>
              <a:t>генератор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805940"/>
            <a:ext cx="7406640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rPr dirty="0"/>
              <a:t>x ^= x &gt;&gt; 12;  x ^= x &lt;&lt; </a:t>
            </a:r>
            <a:r>
              <a:rPr lang="ru-RU" dirty="0"/>
              <a:t>24</a:t>
            </a:r>
            <a:r>
              <a:rPr dirty="0"/>
              <a:t>;  x ^= x &gt;&gt; 27;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5164"/>
            <a:ext cx="7406640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равномерных</a:t>
            </a:r>
            <a:r>
              <a:rPr dirty="0"/>
              <a:t> </a:t>
            </a:r>
            <a:r>
              <a:rPr dirty="0" err="1"/>
              <a:t>чисел</a:t>
            </a:r>
            <a:r>
              <a:rPr dirty="0"/>
              <a:t> </a:t>
            </a:r>
            <a:r>
              <a:rPr dirty="0" err="1"/>
              <a:t>делаем</a:t>
            </a:r>
            <a:r>
              <a:rPr dirty="0"/>
              <a:t> </a:t>
            </a:r>
            <a:r>
              <a:rPr dirty="0" err="1"/>
              <a:t>нормальные</a:t>
            </a:r>
            <a:r>
              <a:rPr dirty="0"/>
              <a:t> (</a:t>
            </a:r>
            <a:r>
              <a:rPr dirty="0" err="1"/>
              <a:t>Бокс</a:t>
            </a:r>
            <a:r>
              <a:rPr lang="ru-RU" dirty="0"/>
              <a:t>-</a:t>
            </a:r>
            <a:r>
              <a:rPr dirty="0" err="1"/>
              <a:t>Мюллер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9776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(-2.0 * u1.ln()).sqrt() * (2.0 * PI * u2).cos()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438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8A94A6"/>
                </a:solidFill>
                <a:latin typeface="Consolas"/>
              </a:defRPr>
            </a:pPr>
            <a:r>
              <a:t>// накладываем на яркость и следим за диапазоном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53612"/>
            <a:ext cx="7406640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142244"/>
                </a:solidFill>
                <a:latin typeface="Consolas"/>
              </a:defRPr>
            </a:pPr>
            <a:r>
              <a:rPr dirty="0"/>
              <a:t>out = (pixel + noise * sigma).clamp(0.0, </a:t>
            </a:r>
            <a:r>
              <a:rPr lang="ru-RU" dirty="0"/>
              <a:t>24</a:t>
            </a:r>
            <a:r>
              <a:rPr dirty="0"/>
              <a:t>5.0)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160020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618488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без библиотек: поведение не изменится при обновлении зависимостей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306324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081528"/>
            <a:ext cx="2468880" cy="50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seed </a:t>
            </a:r>
            <a:r>
              <a:rPr dirty="0" err="1"/>
              <a:t>фиксирован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повторный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цифры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8732520" y="4526280"/>
            <a:ext cx="457200" cy="457200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544568"/>
            <a:ext cx="2468880" cy="50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clamp </a:t>
            </a:r>
            <a:r>
              <a:rPr dirty="0" err="1"/>
              <a:t>держит</a:t>
            </a:r>
            <a:r>
              <a:rPr dirty="0"/>
              <a:t> </a:t>
            </a:r>
            <a:r>
              <a:rPr dirty="0" err="1"/>
              <a:t>яркость</a:t>
            </a:r>
            <a:r>
              <a:rPr dirty="0"/>
              <a:t> в </a:t>
            </a:r>
            <a:r>
              <a:rPr dirty="0" err="1"/>
              <a:t>пределах</a:t>
            </a:r>
            <a:r>
              <a:rPr dirty="0"/>
              <a:t> 0…</a:t>
            </a:r>
            <a:r>
              <a:rPr lang="ru-RU" dirty="0"/>
              <a:t>2</a:t>
            </a:r>
            <a:r>
              <a:rPr lang="en-US" dirty="0"/>
              <a:t>5</a:t>
            </a:r>
            <a:r>
              <a:rPr dirty="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42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experiment.rs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рождаются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цифры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D62728"/>
                </a:solidFill>
                <a:latin typeface="Consolas"/>
              </a:defRPr>
            </a:pPr>
            <a:r>
              <a:t>src/experiment.rs · 280 строк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1618488"/>
            <a:ext cx="6217920" cy="3016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прогоняет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 и </a:t>
            </a:r>
            <a:r>
              <a:rPr dirty="0" err="1"/>
              <a:t>замеряет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плюс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результата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231343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run_bench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33172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главный прогон: изображения × уровни шума × методы → results.csv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26664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run_sweep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044952"/>
            <a:ext cx="6217920" cy="3016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перебор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параметра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сетке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калибровка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3739896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50" b="1" i="0">
                <a:solidFill>
                  <a:srgbClr val="142244"/>
                </a:solidFill>
                <a:latin typeface="Consolas"/>
              </a:defRPr>
            </a:pPr>
            <a:r>
              <a:t>run_configs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758184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сравнение полных конфигураций метода, с разбивкой по картинкам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10698480" cy="309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00" b="1" i="0">
                <a:solidFill>
                  <a:srgbClr val="D62728"/>
                </a:solidFill>
                <a:latin typeface="Calibri"/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в </a:t>
            </a:r>
            <a:r>
              <a:rPr dirty="0" err="1"/>
              <a:t>отчёте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графиках</a:t>
            </a:r>
            <a:r>
              <a:rPr dirty="0"/>
              <a:t> и в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 </a:t>
            </a:r>
            <a:r>
              <a:rPr dirty="0" err="1"/>
              <a:t>выросли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ни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цифра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вписана</a:t>
            </a:r>
            <a:r>
              <a:rPr dirty="0"/>
              <a:t> </a:t>
            </a:r>
            <a:r>
              <a:rPr dirty="0" err="1"/>
              <a:t>руками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15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542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main.rs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управляется</a:t>
            </a:r>
            <a:r>
              <a:rPr dirty="0"/>
              <a:t> </a:t>
            </a:r>
            <a:r>
              <a:rPr dirty="0" err="1"/>
              <a:t>программа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denoise -i фото.jpg -m acsf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7335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одна картинка выбранным методом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bench -d data/clean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4203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полный эксперимент: таблица метрик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sweep · tune · sens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41071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калибровка параметров и анализ устойчивости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demo -d мои_фото --rgb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793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прогон по своим фотографиям, в цвете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16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t>Три решения, которые видно в коде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591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Структуру измеряем разбросом яркостей, а не градиентом: у градиента шум тоже даёт всплески, и фильтр путает зерно с контуром.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734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9748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Из разброса обязательно вычитаем разброс шума: иначе в гладких местах карта структуры не ноль, и фильтр сглаживает робко.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877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4048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Края картинки обрабатываем продлением пикселя: без этого по рамке вылезает тёмная кайма.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17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t>Чтобы себя не обмануть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591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0241280" cy="641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методы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программой</a:t>
            </a:r>
            <a:r>
              <a:rPr dirty="0"/>
              <a:t> и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зашумлённом</a:t>
            </a:r>
            <a:r>
              <a:rPr dirty="0"/>
              <a:t> </a:t>
            </a:r>
            <a:r>
              <a:rPr dirty="0" err="1"/>
              <a:t>наборе</a:t>
            </a:r>
            <a:r>
              <a:rPr dirty="0"/>
              <a:t>: </a:t>
            </a:r>
            <a:r>
              <a:rPr dirty="0" err="1"/>
              <a:t>своё</a:t>
            </a:r>
            <a:r>
              <a:rPr dirty="0"/>
              <a:t> </a:t>
            </a:r>
            <a:r>
              <a:rPr dirty="0" err="1"/>
              <a:t>зерно</a:t>
            </a:r>
            <a:r>
              <a:rPr dirty="0"/>
              <a:t>, </a:t>
            </a:r>
            <a:r>
              <a:rPr dirty="0" err="1"/>
              <a:t>повторный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цифры</a:t>
            </a:r>
            <a:r>
              <a:rPr dirty="0"/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734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97480"/>
            <a:ext cx="10241280" cy="358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подобраны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σ = 20 и 30, а </a:t>
            </a:r>
            <a:r>
              <a:rPr dirty="0" err="1"/>
              <a:t>проверены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σ = 10 и 40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тех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в </a:t>
            </a:r>
            <a:r>
              <a:rPr dirty="0" err="1"/>
              <a:t>подборе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участвовали</a:t>
            </a:r>
            <a:r>
              <a:rPr dirty="0"/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877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40480"/>
            <a:ext cx="10241280" cy="641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9 </a:t>
            </a:r>
            <a:r>
              <a:rPr dirty="0" err="1"/>
              <a:t>автотестов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логику</a:t>
            </a:r>
            <a:r>
              <a:rPr dirty="0"/>
              <a:t>: </a:t>
            </a:r>
            <a:r>
              <a:rPr dirty="0" err="1"/>
              <a:t>шум</a:t>
            </a:r>
            <a:r>
              <a:rPr dirty="0"/>
              <a:t> в </a:t>
            </a:r>
            <a:r>
              <a:rPr dirty="0" err="1"/>
              <a:t>гладкой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упасть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в </a:t>
            </a:r>
            <a:r>
              <a:rPr dirty="0" err="1"/>
              <a:t>пять</a:t>
            </a:r>
            <a:r>
              <a:rPr dirty="0"/>
              <a:t> </a:t>
            </a:r>
            <a:r>
              <a:rPr dirty="0" err="1"/>
              <a:t>раз</a:t>
            </a:r>
            <a:r>
              <a:rPr dirty="0"/>
              <a:t>, а </a:t>
            </a:r>
            <a:r>
              <a:rPr dirty="0" err="1"/>
              <a:t>контур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уцелеть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у </a:t>
            </a:r>
            <a:r>
              <a:rPr dirty="0" err="1"/>
              <a:t>среднего</a:t>
            </a:r>
            <a:r>
              <a:rPr dirty="0"/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5020056"/>
            <a:ext cx="402336" cy="402336"/>
          </a:xfrm>
          <a:prstGeom prst="ellipse">
            <a:avLst/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983480"/>
            <a:ext cx="10241280" cy="358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Тесты</a:t>
            </a:r>
            <a:r>
              <a:rPr dirty="0"/>
              <a:t> </a:t>
            </a:r>
            <a:r>
              <a:rPr dirty="0" err="1"/>
              <a:t>запускаются</a:t>
            </a:r>
            <a:r>
              <a:rPr dirty="0"/>
              <a:t> </a:t>
            </a:r>
            <a:r>
              <a:rPr dirty="0" err="1"/>
              <a:t>одн</a:t>
            </a:r>
            <a:r>
              <a:rPr lang="ru-RU" dirty="0"/>
              <a:t>им файлом .</a:t>
            </a:r>
            <a:r>
              <a:rPr lang="en-US" dirty="0"/>
              <a:t>bat.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18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t>Результаты эксперимента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9264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t>среднее по трём изображениям и пяти уровням шума · SSIM 0,72 против 0,58 · EPI 0,55 против 0,50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688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4600" b="1" i="0">
                <a:solidFill>
                  <a:srgbClr val="D62728"/>
                </a:solidFill>
                <a:latin typeface="Calibri"/>
              </a:defRPr>
            </a:pPr>
            <a:r>
              <a:t>26,1 дБ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3230880" cy="3016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АКСФ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метод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236720" y="1691640"/>
            <a:ext cx="3688080" cy="8055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46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24,</a:t>
            </a:r>
            <a:r>
              <a:rPr lang="ru-RU" dirty="0"/>
              <a:t>1</a:t>
            </a:r>
            <a:r>
              <a:rPr dirty="0"/>
              <a:t> </a:t>
            </a:r>
            <a:r>
              <a:rPr dirty="0" err="1"/>
              <a:t>дБ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465320" y="2670048"/>
            <a:ext cx="3230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билатеральный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1691640"/>
            <a:ext cx="3688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4600" b="1" i="0">
                <a:solidFill>
                  <a:srgbClr val="142244"/>
                </a:solidFill>
                <a:latin typeface="Calibri"/>
              </a:defRPr>
            </a:pPr>
            <a:r>
              <a:rPr dirty="0"/>
              <a:t>23,1 </a:t>
            </a:r>
            <a:r>
              <a:rPr dirty="0" err="1"/>
              <a:t>дБ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153399" y="2670048"/>
            <a:ext cx="3230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гауссов</a:t>
            </a:r>
          </a:p>
        </p:txBody>
      </p:sp>
      <p:pic>
        <p:nvPicPr>
          <p:cNvPr id="10" name="Picture 9" descr="min_chart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0" y="3657600"/>
            <a:ext cx="6553199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19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t>И на сложной текстуре тоже</a:t>
            </a:r>
          </a:p>
        </p:txBody>
      </p:sp>
      <p:pic>
        <p:nvPicPr>
          <p:cNvPr id="3" name="Picture 2" descr="fig_visual_bab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7895"/>
            <a:ext cx="11274552" cy="2630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892040"/>
            <a:ext cx="10332720" cy="324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Мех</a:t>
            </a:r>
            <a:r>
              <a:rPr dirty="0"/>
              <a:t> и </a:t>
            </a:r>
            <a:r>
              <a:rPr dirty="0" err="1"/>
              <a:t>контур</a:t>
            </a:r>
            <a:r>
              <a:rPr dirty="0"/>
              <a:t> </a:t>
            </a:r>
            <a:r>
              <a:rPr dirty="0" err="1"/>
              <a:t>глаза</a:t>
            </a:r>
            <a:r>
              <a:rPr dirty="0"/>
              <a:t>: 20,2 </a:t>
            </a:r>
            <a:r>
              <a:rPr dirty="0" err="1"/>
              <a:t>дБ</a:t>
            </a:r>
            <a:r>
              <a:rPr dirty="0"/>
              <a:t> у </a:t>
            </a:r>
            <a:r>
              <a:rPr dirty="0" err="1"/>
              <a:t>зашумлённого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24,1 </a:t>
            </a:r>
            <a:r>
              <a:rPr dirty="0" err="1"/>
              <a:t>дБ</a:t>
            </a:r>
            <a:r>
              <a:rPr dirty="0"/>
              <a:t> у </a:t>
            </a:r>
            <a:r>
              <a:rPr dirty="0" err="1"/>
              <a:t>нашего</a:t>
            </a:r>
            <a:r>
              <a:rPr dirty="0"/>
              <a:t> </a:t>
            </a:r>
            <a:r>
              <a:rPr dirty="0" err="1"/>
              <a:t>метода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20 / </a:t>
            </a:r>
            <a:r>
              <a:rPr lang="ru-RU" dirty="0"/>
              <a:t>24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t>Честно об ограничениях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60704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t>В 11 раз медленнее гауссова фильтра (179 мс) · не для «соли и перца» · параметры подобраны один раз</a:t>
            </a:r>
          </a:p>
        </p:txBody>
      </p:sp>
      <p:pic>
        <p:nvPicPr>
          <p:cNvPr id="4" name="Picture 3" descr="fig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934" y="1837943"/>
            <a:ext cx="8181825" cy="4608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2</a:t>
            </a:r>
            <a:r>
              <a:rPr lang="ru-RU" dirty="0"/>
              <a:t>1</a:t>
            </a:r>
            <a:r>
              <a:rPr dirty="0"/>
              <a:t> / 2</a:t>
            </a:r>
            <a:r>
              <a:rPr lang="ru-RU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900" b="1" i="0">
                <a:solidFill>
                  <a:srgbClr val="142244"/>
                </a:solidFill>
                <a:latin typeface="Calibri"/>
              </a:defRPr>
            </a:pPr>
            <a:r>
              <a:t>Это можно потрогать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demo -d мои_фото -o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7335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прогоняет все методы по вашим картинкам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--rgb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4203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включает цветной режим обработки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запустить_сглаживание.bat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410712"/>
            <a:ext cx="5120640" cy="324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двойной</a:t>
            </a:r>
            <a:r>
              <a:rPr dirty="0"/>
              <a:t> </a:t>
            </a:r>
            <a:r>
              <a:rPr dirty="0" err="1"/>
              <a:t>клик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и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готово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строки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600" b="1" i="0">
                <a:solidFill>
                  <a:srgbClr val="D62728"/>
                </a:solidFill>
                <a:latin typeface="Consolas"/>
              </a:defRPr>
            </a:pPr>
            <a:r>
              <a:t>cargo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793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девять проверок: ничего не сломалось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2</a:t>
            </a:r>
            <a:r>
              <a:rPr lang="ru-RU" dirty="0"/>
              <a:t>2</a:t>
            </a:r>
            <a:r>
              <a:rPr dirty="0"/>
              <a:t> / 2</a:t>
            </a:r>
            <a:r>
              <a:rPr lang="ru-RU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64240" cy="526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defRPr sz="2800" b="1" i="0">
                <a:solidFill>
                  <a:srgbClr val="142244"/>
                </a:solidFill>
                <a:latin typeface="Calibri"/>
              </a:defRPr>
            </a:pPr>
            <a:r>
              <a:rPr lang="ru-RU" dirty="0"/>
              <a:t>Результаты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8A8A8A"/>
                </a:solidFill>
                <a:latin typeface="Calibri"/>
              </a:defRPr>
            </a:pPr>
            <a:r>
              <a:rPr dirty="0"/>
              <a:t>2</a:t>
            </a:r>
            <a:r>
              <a:rPr lang="ru-RU" dirty="0"/>
              <a:t>3</a:t>
            </a:r>
            <a:r>
              <a:rPr dirty="0"/>
              <a:t> / 2</a:t>
            </a:r>
            <a:r>
              <a:rPr lang="ru-RU" dirty="0"/>
              <a:t>4</a:t>
            </a:r>
            <a:endParaRPr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534EA46-2EE8-E2B5-9DE0-374AE7870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9094"/>
            <a:ext cx="3512997" cy="254692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AD46FBD-EAAA-2006-4697-1FBB7A940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745" y="1059094"/>
            <a:ext cx="3526509" cy="254692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DC51E52-2903-4EDB-F361-C5A511F34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362" y="1059094"/>
            <a:ext cx="3540021" cy="254692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8807B05-3FB1-BD00-4B9D-AF5335F3D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89618"/>
            <a:ext cx="3526509" cy="25208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3A12D5B-7588-6633-D289-C094DDD62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2745" y="3789618"/>
            <a:ext cx="3526509" cy="252085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26DC79B-6E0B-2345-1421-A4404AFDC8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3875" y="3789617"/>
            <a:ext cx="3540020" cy="25208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butterf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A14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6177" y="2142609"/>
            <a:ext cx="103327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defRPr sz="1100" b="0" i="0">
                <a:solidFill>
                  <a:srgbClr val="C8D3E8"/>
                </a:solidFill>
                <a:latin typeface="Calibri"/>
              </a:defRPr>
            </a:pPr>
            <a:r>
              <a:rPr dirty="0"/>
              <a:t>2</a:t>
            </a:r>
            <a:r>
              <a:rPr lang="ru-RU" dirty="0"/>
              <a:t>4</a:t>
            </a:r>
            <a:r>
              <a:rPr dirty="0"/>
              <a:t> / 2</a:t>
            </a:r>
            <a:r>
              <a:rPr lang="ru-RU" dirty="0"/>
              <a:t>4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3679</Words>
  <Application>Microsoft Office PowerPoint</Application>
  <PresentationFormat>Широкоэкранный</PresentationFormat>
  <Paragraphs>224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Борис</dc:creator>
  <cp:keywords/>
  <dc:description>generated using python-pptx</dc:description>
  <cp:lastModifiedBy>Boris Korolev</cp:lastModifiedBy>
  <cp:revision>12</cp:revision>
  <dcterms:created xsi:type="dcterms:W3CDTF">2013-01-27T09:14:16Z</dcterms:created>
  <dcterms:modified xsi:type="dcterms:W3CDTF">2026-10-06T08:21:08Z</dcterms:modified>
  <cp:category/>
</cp:coreProperties>
</file>